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7991ED0-4FED-BBF3-2C4C-CB9F1A61821C}">
          <p14:sldIdLst>
            <p14:sldId id="256"/>
            <p14:sldId id="257"/>
            <p14:sldId id="258"/>
          </p14:sldIdLst>
        </p14:section>
        <p14:section name="Connections" id="{DD447F9C-0AAA-A5C9-A08E-37E345FAF76B}">
          <p14:sldIdLst>
            <p14:sldId id="259"/>
          </p14:sldIdLst>
        </p14:section>
        <p14:section name="Services" id="{D3D14CD6-74C1-DCEB-D15E-2F6C01237201}">
          <p14:sldIdLst>
            <p14:sldId id="260"/>
            <p14:sldId id="261"/>
            <p14:sldId id="262"/>
            <p14:sldId id="263"/>
          </p14:sldIdLst>
        </p14:section>
        <p14:section name="Storage" id="{9E641008-306E-56F6-EF95-8AFFD5E07CA2}">
          <p14:sldIdLst>
            <p14:sldId id="264"/>
            <p14:sldId id="265"/>
          </p14:sldIdLst>
        </p14:section>
        <p14:section name="Skill" id="{6007D471-53D2-E506-7638-D726E983079C}">
          <p14:sldIdLst>
            <p14:sldId id="266"/>
          </p14:sldIdLst>
        </p14:section>
        <p14:section name="Dashboard" id="{9BF39B2D-C3A3-30E7-2090-798E0E47AD1C}">
          <p14:sldIdLst>
            <p14:sldId id="267"/>
          </p14:sldIdLst>
        </p14:section>
        <p14:section name="Wrap-up" id="{6CC3EA4E-0280-9C7D-4D0D-98B5868793F7}">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4" d="100"/>
          <a:sy n="154" d="100"/>
        </p:scale>
        <p:origin x="216"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981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HW3 for AI Assisted Development of Products and Services (Prof. Rosenthal). I connected Claude Code to Gmail, GitHub, Notion and Supabase through MCP servers, downloaded the test data into local files with a reusable skill, and built a local dashboard that searches all four at once. Everything is fake test data for an invented motorcycle dealership. Repo: github.com/josephhomeworksai-hash/third-party-dashboard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 filled each service with 10 fake items, connected Claude Code to all four through MCP servers, wrote the export-services skill that downloads everything into dataExports/, and built a local dashboard that searches those files. 4 services, 40 items, 1 skill, and no secrets in the public repo.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accounts are new test accounts. The data is a fake motorcycle dealership. The key design choice: the same 10 fake customer names appear in every service, so a single search such as 'Maria Prueba' returns one result from each service. The test data was created in a separate Claude Code conversation, then /clear before downloading.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MCP servers are defined in .mcp.json. GitHub, Notion and Supabase use the vendors' official servers. Supabase runs with read_only=true so the export cannot change data. Tokens and passwords never go in the file: .mcp.json only has ${...} placeholders that Claude Code fills from environment variables. Gmail uses the community server gmail-mcp-imap with an app password, because Google's official Gmail MCP server needs a Google Cloud project, the Gmail API and an OAuth client (see Challenges).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Gmail: on the left, the test inbox; on the right, the same 10 emails in the dashboard with only Gmail selected. Each email is one JSON file named by its message id, with from, to, cc, subject, date, labels, snippet, body and viewUrl.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the test repo dealership-test-tasks has 10 open issues. Each one is saved as issue-NN.json with number, title, state, labels, assignees, author, created and updated dates, url, comment count and body.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Notion: the Dealership Test database has 10 lead follow-up pages. Each page is saved as Markdown with a YAML front matter block: page id, url, title, database, created and edited times and the four database properties.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Supabase: the export joins clients_sales with the motorcycles catalog into one table of 10 rows (id, client_name, motorcycle). It is saved as JSON (with project, table, row count and export date) and CSV (opens in Excel), plus schema.json with column types.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Formats are explained in localStorageFormats.md. Gmail and GitHub are records with a few short fields and one long text, so JSON. Notion pages are mostly text, so Markdown with YAML front matter, a common convention that editors like Obsidian understand. Supabase is a table, so CSV for spreadsheets and JSON for the table-level metadata, plus schema.json with the column types.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real files from the repo. Left: one Gmail message as JSON, every field separate and typed. Right: one Notion page as Markdown with a YAML header; the metadata sits on top and the page text stays readable below it. Both belong to the same fake customer, Maria Prueba.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project-level skill lives in .claude/skills/export-services/SKILL.md. It tells Claude Code exactly which MCP tools to call for each service and which file to write, so the result is the same every time. I tested it by running /clear and asking for the download in a fresh conversation: the files came out in the same format and the dashboard still finds 10 items per service.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dashboard/server.py, Python standard library only, so nothing to install. It reads the local files on every search. Searching 'Maria Prueba' returns 4 results: her Notion page, her GitHub follow-up issue, her Supabase row and her Gmail inquiry, each with its service badge. Open http://localhost:8000 after running python3 dashboard/server.py.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is public, so: only test accounts, no secrets in any file (tokens are environment variables and .mcp.json uses placeholders), read-only access where possible, and a secret check before committing. After grading I delete the GitHub token and revoke the Gmail app password.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challenge: Gmail. The official Google server needs a Google Cloud project, the Gmail API and an OAuth client, so I used the community IMAP server gmail-mcp-imap with an app password. The README documents the official alternative. Lessons: test accounts, a skill for repeatable downloads, and shared names so one search works across JSON, Markdown and CSV.</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has every deliverable: dataExports, the .claude skill, .mcp.json, the dashboard with its README, localStorageFormats.md, this presentation and the demo video. To try it: clone, run python3 dashboard/server.py and open localhost:8000.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rtlCol="0"/>
          <a:lstStyle>
            <a:lvl1pPr marL="0" indent="0">
              <a:buNone/>
              <a:defRPr lang="en-US" sz="1100" b="1" kern="0" spc="100" dirty="0">
                <a:solidFill>
                  <a:schemeClr val="accent1"/>
                </a:solidFill>
              </a:defRPr>
            </a:lvl1pPr>
          </a:lstStyle>
          <a:p>
            <a:pPr marL="0" indent="0">
              <a:buNone/>
            </a:pPr>
            <a:endParaRPr lang="en-US" sz="1100" dirty="0"/>
          </a:p>
        </p:txBody>
      </p:sp>
      <p:sp>
        <p:nvSpPr>
          <p:cNvPr id="3" name="Text 0"/>
          <p:cNvSpPr>
            <a:spLocks noGrp="1"/>
          </p:cNvSpPr>
          <p:nvPr>
            <p:ph type="title" idx="101" hasCustomPrompt="1"/>
          </p:nvPr>
        </p:nvSpPr>
        <p:spPr>
          <a:xfrm>
            <a:off x="457200" y="475488"/>
            <a:ext cx="8229600" cy="548640"/>
          </a:xfrm>
          <a:prstGeom prst="rect">
            <a:avLst/>
          </a:prstGeom>
          <a:noFill/>
          <a:ln/>
        </p:spPr>
        <p:txBody>
          <a:bodyPr wrap="square" rtlCol="0"/>
          <a:lstStyle>
            <a:lvl1pPr marL="0" indent="0" algn="l">
              <a:buNone/>
              <a:defRPr lang="en-US" sz="2600" b="1" dirty="0">
                <a:solidFill>
                  <a:schemeClr val="tx1"/>
                </a:solidFill>
                <a:latin typeface="Arial" pitchFamily="34" charset="0"/>
                <a:ea typeface="Arial" pitchFamily="34" charset="-122"/>
                <a:cs typeface="Arial" pitchFamily="34" charset="-120"/>
              </a:defRPr>
            </a:lvl1pPr>
          </a:lstStyle>
          <a:p>
            <a:pPr marL="0" indent="0" algn="l">
              <a:buNone/>
            </a:pPr>
            <a:endParaRPr lang="en-US" sz="2600" dirty="0"/>
          </a:p>
        </p:txBody>
      </p:sp>
      <p:sp>
        <p:nvSpPr>
          <p:cNvPr id="4" name="Text 0"/>
          <p:cNvSpPr/>
          <p:nvPr/>
        </p:nvSpPr>
        <p:spPr>
          <a:xfrm>
            <a:off x="457200" y="4828032"/>
            <a:ext cx="4572000" cy="201168"/>
          </a:xfrm>
          <a:prstGeom prst="rect">
            <a:avLst/>
          </a:prstGeom>
          <a:noFill/>
          <a:ln/>
        </p:spPr>
        <p:txBody>
          <a:bodyPr wrap="square" lIns="0" tIns="0" rIns="0" bIns="0" rtlCol="0" anchor="ctr"/>
          <a:lstStyle/>
          <a:p>
            <a:pPr marL="0" indent="0">
              <a:buNone/>
            </a:pPr>
            <a:r>
              <a:rPr lang="en-US" sz="900" dirty="0">
                <a:solidFill>
                  <a:schemeClr val="tx2"/>
                </a:solidFill>
              </a:rPr>
              <a:t>HW3 · Third-Party Data Dashboard</a:t>
            </a:r>
            <a:endParaRPr lang="en-US" sz="900" dirty="0"/>
          </a:p>
        </p:txBody>
      </p:sp>
      <p:sp>
        <p:nvSpPr>
          <p:cNvPr id="25" name="Slide Number Placeholder 0"/>
          <p:cNvSpPr>
            <a:spLocks noGrp="1"/>
          </p:cNvSpPr>
          <p:nvPr>
            <p:ph type="sldNum" sz="quarter" idx="4294967295"/>
          </p:nvPr>
        </p:nvSpPr>
        <p:spPr>
          <a:xfrm>
            <a:off x="8321040" y="4828032"/>
            <a:ext cx="36576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1B34"/>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36576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josephhomeworksai-hash/third-party-dashboard"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urse"/>
          <p:cNvSpPr txBox="1"/>
          <p:nvPr/>
        </p:nvSpPr>
        <p:spPr>
          <a:xfrm>
            <a:off x="548640" y="822960"/>
            <a:ext cx="5852160" cy="274320"/>
          </a:xfrm>
          <a:prstGeom prst="rect">
            <a:avLst/>
          </a:prstGeom>
          <a:noFill/>
          <a:ln/>
        </p:spPr>
        <p:txBody>
          <a:bodyPr wrap="square" lIns="0" tIns="0" rIns="0" bIns="0" rtlCol="0" anchor="ctr"/>
          <a:lstStyle/>
          <a:p>
            <a:pPr marL="0" indent="0">
              <a:buNone/>
            </a:pPr>
            <a:r>
              <a:rPr lang="en-US" sz="1100" b="1" kern="0" spc="100" dirty="0">
                <a:solidFill>
                  <a:srgbClr val="F26B3A"/>
                </a:solidFill>
              </a:rPr>
              <a:t>HW3 · AI ASSISTED DEVELOPMENT OF PRODUCTS AND SERVICES</a:t>
            </a:r>
            <a:endParaRPr lang="en-US" sz="1100" dirty="0"/>
          </a:p>
        </p:txBody>
      </p:sp>
      <p:sp>
        <p:nvSpPr>
          <p:cNvPr id="3" name="Title"/>
          <p:cNvSpPr txBox="1"/>
          <p:nvPr/>
        </p:nvSpPr>
        <p:spPr>
          <a:xfrm>
            <a:off x="548640" y="1188720"/>
            <a:ext cx="5852160" cy="1097280"/>
          </a:xfrm>
          <a:prstGeom prst="rect">
            <a:avLst/>
          </a:prstGeom>
          <a:noFill/>
          <a:ln/>
        </p:spPr>
        <p:txBody>
          <a:bodyPr wrap="square" lIns="0" tIns="0" rIns="0" bIns="0" rtlCol="0" anchor="t"/>
          <a:lstStyle/>
          <a:p>
            <a:pPr marL="0" indent="0">
              <a:buNone/>
            </a:pPr>
            <a:r>
              <a:rPr lang="en-US" sz="4000" b="1" dirty="0">
                <a:solidFill>
                  <a:srgbClr val="FFFFFF"/>
                </a:solidFill>
                <a:latin typeface="Arial" pitchFamily="34" charset="0"/>
                <a:ea typeface="Arial" pitchFamily="34" charset="-122"/>
                <a:cs typeface="Arial" pitchFamily="34" charset="-120"/>
              </a:rPr>
              <a:t>Third-Party Data Dashboard</a:t>
            </a:r>
            <a:endParaRPr lang="en-US" sz="4000" dirty="0"/>
          </a:p>
        </p:txBody>
      </p:sp>
      <p:sp>
        <p:nvSpPr>
          <p:cNvPr id="4" name="Subtitle"/>
          <p:cNvSpPr txBox="1"/>
          <p:nvPr/>
        </p:nvSpPr>
        <p:spPr>
          <a:xfrm>
            <a:off x="548640" y="2514600"/>
            <a:ext cx="5394960" cy="685800"/>
          </a:xfrm>
          <a:prstGeom prst="rect">
            <a:avLst/>
          </a:prstGeom>
          <a:noFill/>
          <a:ln/>
        </p:spPr>
        <p:txBody>
          <a:bodyPr wrap="square" lIns="0" tIns="0" rIns="0" bIns="0" rtlCol="0" anchor="t"/>
          <a:lstStyle/>
          <a:p>
            <a:pPr marL="0" indent="0">
              <a:buNone/>
            </a:pPr>
            <a:r>
              <a:rPr lang="en-US" sz="1600" dirty="0">
                <a:solidFill>
                  <a:srgbClr val="C9CFE6"/>
                </a:solidFill>
              </a:rPr>
              <a:t>Claude Code + MCP: download test data from four services and search it all in one local website</a:t>
            </a:r>
            <a:endParaRPr lang="en-US" sz="1600" dirty="0"/>
          </a:p>
        </p:txBody>
      </p:sp>
      <p:sp>
        <p:nvSpPr>
          <p:cNvPr id="5" name="Author"/>
          <p:cNvSpPr txBox="1"/>
          <p:nvPr/>
        </p:nvSpPr>
        <p:spPr>
          <a:xfrm>
            <a:off x="548640" y="3840480"/>
            <a:ext cx="5486400" cy="548640"/>
          </a:xfrm>
          <a:prstGeom prst="rect">
            <a:avLst/>
          </a:prstGeom>
          <a:noFill/>
          <a:ln/>
        </p:spPr>
        <p:txBody>
          <a:bodyPr wrap="square" lIns="0" tIns="0" rIns="0" bIns="0" rtlCol="0" anchor="ctr"/>
          <a:lstStyle/>
          <a:p>
            <a:pPr marL="0" indent="0">
              <a:buNone/>
            </a:pPr>
            <a:r>
              <a:rPr lang="en-US" sz="1300" b="1" dirty="0">
                <a:solidFill>
                  <a:srgbClr val="FFFFFF"/>
                </a:solidFill>
              </a:rPr>
              <a:t>Joseph Benzaquen</a:t>
            </a:r>
            <a:endParaRPr lang="en-US" sz="1300" dirty="0"/>
          </a:p>
          <a:p>
            <a:pPr marL="0" indent="0">
              <a:buNone/>
            </a:pPr>
            <a:r>
              <a:rPr lang="en-US" sz="1300" dirty="0">
                <a:solidFill>
                  <a:srgbClr val="9AA3C2"/>
                </a:solidFill>
              </a:rPr>
              <a:t>Prof. Rosenthal · Yeshiva University · Fall 2026</a:t>
            </a:r>
            <a:endParaRPr lang="en-US" sz="1300" dirty="0"/>
          </a:p>
        </p:txBody>
      </p:sp>
      <p:sp>
        <p:nvSpPr>
          <p:cNvPr id="6" name="Gmail chip"/>
          <p:cNvSpPr/>
          <p:nvPr/>
        </p:nvSpPr>
        <p:spPr>
          <a:xfrm>
            <a:off x="6629400" y="914400"/>
            <a:ext cx="2011680" cy="685800"/>
          </a:xfrm>
          <a:prstGeom prst="roundRect">
            <a:avLst>
              <a:gd name="adj" fmla="val 13333"/>
            </a:avLst>
          </a:prstGeom>
          <a:solidFill>
            <a:srgbClr val="1F2850"/>
          </a:solidFill>
          <a:ln w="12700">
            <a:solidFill>
              <a:srgbClr val="2C3766"/>
            </a:solidFill>
            <a:prstDash val="solid"/>
          </a:ln>
        </p:spPr>
        <p:txBody>
          <a:bodyPr/>
          <a:lstStyle/>
          <a:p>
            <a:endParaRPr lang="en-US"/>
          </a:p>
        </p:txBody>
      </p:sp>
      <p:sp>
        <p:nvSpPr>
          <p:cNvPr id="7" name="Gmail circle"/>
          <p:cNvSpPr/>
          <p:nvPr/>
        </p:nvSpPr>
        <p:spPr>
          <a:xfrm>
            <a:off x="6766560" y="1024128"/>
            <a:ext cx="457200" cy="457200"/>
          </a:xfrm>
          <a:prstGeom prst="ellipse">
            <a:avLst/>
          </a:prstGeom>
          <a:solidFill>
            <a:srgbClr val="EA4335"/>
          </a:solidFill>
          <a:ln w="12700">
            <a:solidFill>
              <a:srgbClr val="EA4335"/>
            </a:solidFill>
            <a:prstDash val="solid"/>
          </a:ln>
        </p:spPr>
        <p:txBody>
          <a:bodyPr/>
          <a:lstStyle/>
          <a:p>
            <a:endParaRPr lang="en-US"/>
          </a:p>
        </p:txBody>
      </p:sp>
      <p:pic>
        <p:nvPicPr>
          <p:cNvPr id="8" name="Gmail icon" descr="preencoded.png"/>
          <p:cNvPicPr>
            <a:picLocks noChangeAspect="1"/>
          </p:cNvPicPr>
          <p:nvPr/>
        </p:nvPicPr>
        <p:blipFill>
          <a:blip r:embed="rId3"/>
          <a:stretch>
            <a:fillRect/>
          </a:stretch>
        </p:blipFill>
        <p:spPr>
          <a:xfrm>
            <a:off x="6885432" y="1143000"/>
            <a:ext cx="219456" cy="219456"/>
          </a:xfrm>
          <a:prstGeom prst="rect">
            <a:avLst/>
          </a:prstGeom>
        </p:spPr>
      </p:pic>
      <p:sp>
        <p:nvSpPr>
          <p:cNvPr id="9" name="Gmail label"/>
          <p:cNvSpPr txBox="1"/>
          <p:nvPr/>
        </p:nvSpPr>
        <p:spPr>
          <a:xfrm>
            <a:off x="7333488" y="1005840"/>
            <a:ext cx="1234440" cy="502920"/>
          </a:xfrm>
          <a:prstGeom prst="rect">
            <a:avLst/>
          </a:prstGeom>
          <a:noFill/>
          <a:ln/>
        </p:spPr>
        <p:txBody>
          <a:bodyPr wrap="square" lIns="0" tIns="0" rIns="0" bIns="0" rtlCol="0" anchor="ctr"/>
          <a:lstStyle/>
          <a:p>
            <a:pPr marL="0" indent="0">
              <a:buNone/>
            </a:pPr>
            <a:r>
              <a:rPr lang="en-US" sz="1300" b="1" dirty="0">
                <a:solidFill>
                  <a:srgbClr val="FFFFFF"/>
                </a:solidFill>
              </a:rPr>
              <a:t>Gmail</a:t>
            </a:r>
            <a:endParaRPr lang="en-US" sz="1300" dirty="0"/>
          </a:p>
          <a:p>
            <a:pPr marL="0" indent="0">
              <a:buNone/>
            </a:pPr>
            <a:r>
              <a:rPr lang="en-US" sz="1000" dirty="0">
                <a:solidFill>
                  <a:srgbClr val="9AA3C2"/>
                </a:solidFill>
              </a:rPr>
              <a:t>10 test items</a:t>
            </a:r>
            <a:endParaRPr lang="en-US" sz="1300" dirty="0"/>
          </a:p>
        </p:txBody>
      </p:sp>
      <p:sp>
        <p:nvSpPr>
          <p:cNvPr id="10" name="GitHub chip"/>
          <p:cNvSpPr/>
          <p:nvPr/>
        </p:nvSpPr>
        <p:spPr>
          <a:xfrm>
            <a:off x="6629400" y="1783080"/>
            <a:ext cx="2011680" cy="685800"/>
          </a:xfrm>
          <a:prstGeom prst="roundRect">
            <a:avLst>
              <a:gd name="adj" fmla="val 13333"/>
            </a:avLst>
          </a:prstGeom>
          <a:solidFill>
            <a:srgbClr val="1F2850"/>
          </a:solidFill>
          <a:ln w="12700">
            <a:solidFill>
              <a:srgbClr val="2C3766"/>
            </a:solidFill>
            <a:prstDash val="solid"/>
          </a:ln>
        </p:spPr>
        <p:txBody>
          <a:bodyPr/>
          <a:lstStyle/>
          <a:p>
            <a:endParaRPr lang="en-US"/>
          </a:p>
        </p:txBody>
      </p:sp>
      <p:sp>
        <p:nvSpPr>
          <p:cNvPr id="11" name="GitHub circle"/>
          <p:cNvSpPr/>
          <p:nvPr/>
        </p:nvSpPr>
        <p:spPr>
          <a:xfrm>
            <a:off x="6766560" y="1892808"/>
            <a:ext cx="457200" cy="457200"/>
          </a:xfrm>
          <a:prstGeom prst="ellipse">
            <a:avLst/>
          </a:prstGeom>
          <a:solidFill>
            <a:srgbClr val="3A4373"/>
          </a:solidFill>
          <a:ln w="12700">
            <a:solidFill>
              <a:srgbClr val="3A4373"/>
            </a:solidFill>
            <a:prstDash val="solid"/>
          </a:ln>
        </p:spPr>
        <p:txBody>
          <a:bodyPr/>
          <a:lstStyle/>
          <a:p>
            <a:endParaRPr lang="en-US"/>
          </a:p>
        </p:txBody>
      </p:sp>
      <p:pic>
        <p:nvPicPr>
          <p:cNvPr id="12" name="GitHub icon" descr="preencoded.png"/>
          <p:cNvPicPr>
            <a:picLocks noChangeAspect="1"/>
          </p:cNvPicPr>
          <p:nvPr/>
        </p:nvPicPr>
        <p:blipFill>
          <a:blip r:embed="rId4"/>
          <a:stretch>
            <a:fillRect/>
          </a:stretch>
        </p:blipFill>
        <p:spPr>
          <a:xfrm>
            <a:off x="6885432" y="2011680"/>
            <a:ext cx="219456" cy="219456"/>
          </a:xfrm>
          <a:prstGeom prst="rect">
            <a:avLst/>
          </a:prstGeom>
        </p:spPr>
      </p:pic>
      <p:sp>
        <p:nvSpPr>
          <p:cNvPr id="13" name="GitHub label"/>
          <p:cNvSpPr txBox="1"/>
          <p:nvPr/>
        </p:nvSpPr>
        <p:spPr>
          <a:xfrm>
            <a:off x="7333488" y="1874520"/>
            <a:ext cx="1234440" cy="502920"/>
          </a:xfrm>
          <a:prstGeom prst="rect">
            <a:avLst/>
          </a:prstGeom>
          <a:noFill/>
          <a:ln/>
        </p:spPr>
        <p:txBody>
          <a:bodyPr wrap="square" lIns="0" tIns="0" rIns="0" bIns="0" rtlCol="0" anchor="ctr"/>
          <a:lstStyle/>
          <a:p>
            <a:pPr marL="0" indent="0">
              <a:buNone/>
            </a:pPr>
            <a:r>
              <a:rPr lang="en-US" sz="1300" b="1" dirty="0">
                <a:solidFill>
                  <a:srgbClr val="FFFFFF"/>
                </a:solidFill>
              </a:rPr>
              <a:t>GitHub</a:t>
            </a:r>
            <a:endParaRPr lang="en-US" sz="1300" dirty="0"/>
          </a:p>
          <a:p>
            <a:pPr marL="0" indent="0">
              <a:buNone/>
            </a:pPr>
            <a:r>
              <a:rPr lang="en-US" sz="1000" dirty="0">
                <a:solidFill>
                  <a:srgbClr val="9AA3C2"/>
                </a:solidFill>
              </a:rPr>
              <a:t>10 test items</a:t>
            </a:r>
            <a:endParaRPr lang="en-US" sz="1300" dirty="0"/>
          </a:p>
        </p:txBody>
      </p:sp>
      <p:sp>
        <p:nvSpPr>
          <p:cNvPr id="14" name="Notion chip"/>
          <p:cNvSpPr/>
          <p:nvPr/>
        </p:nvSpPr>
        <p:spPr>
          <a:xfrm>
            <a:off x="6629400" y="2651760"/>
            <a:ext cx="2011680" cy="685800"/>
          </a:xfrm>
          <a:prstGeom prst="roundRect">
            <a:avLst>
              <a:gd name="adj" fmla="val 13333"/>
            </a:avLst>
          </a:prstGeom>
          <a:solidFill>
            <a:srgbClr val="1F2850"/>
          </a:solidFill>
          <a:ln w="12700">
            <a:solidFill>
              <a:srgbClr val="2C3766"/>
            </a:solidFill>
            <a:prstDash val="solid"/>
          </a:ln>
        </p:spPr>
        <p:txBody>
          <a:bodyPr/>
          <a:lstStyle/>
          <a:p>
            <a:endParaRPr lang="en-US"/>
          </a:p>
        </p:txBody>
      </p:sp>
      <p:sp>
        <p:nvSpPr>
          <p:cNvPr id="15" name="Notion circle"/>
          <p:cNvSpPr/>
          <p:nvPr/>
        </p:nvSpPr>
        <p:spPr>
          <a:xfrm>
            <a:off x="6766560" y="2761488"/>
            <a:ext cx="457200" cy="457200"/>
          </a:xfrm>
          <a:prstGeom prst="ellipse">
            <a:avLst/>
          </a:prstGeom>
          <a:solidFill>
            <a:srgbClr val="3A4373"/>
          </a:solidFill>
          <a:ln w="12700">
            <a:solidFill>
              <a:srgbClr val="3A4373"/>
            </a:solidFill>
            <a:prstDash val="solid"/>
          </a:ln>
        </p:spPr>
        <p:txBody>
          <a:bodyPr/>
          <a:lstStyle/>
          <a:p>
            <a:endParaRPr lang="en-US"/>
          </a:p>
        </p:txBody>
      </p:sp>
      <p:pic>
        <p:nvPicPr>
          <p:cNvPr id="16" name="Notion icon" descr="preencoded.png"/>
          <p:cNvPicPr>
            <a:picLocks noChangeAspect="1"/>
          </p:cNvPicPr>
          <p:nvPr/>
        </p:nvPicPr>
        <p:blipFill>
          <a:blip r:embed="rId5"/>
          <a:stretch>
            <a:fillRect/>
          </a:stretch>
        </p:blipFill>
        <p:spPr>
          <a:xfrm>
            <a:off x="6885432" y="2880360"/>
            <a:ext cx="219456" cy="219456"/>
          </a:xfrm>
          <a:prstGeom prst="rect">
            <a:avLst/>
          </a:prstGeom>
        </p:spPr>
      </p:pic>
      <p:sp>
        <p:nvSpPr>
          <p:cNvPr id="17" name="Notion label"/>
          <p:cNvSpPr txBox="1"/>
          <p:nvPr/>
        </p:nvSpPr>
        <p:spPr>
          <a:xfrm>
            <a:off x="7333488" y="2743200"/>
            <a:ext cx="1234440" cy="502920"/>
          </a:xfrm>
          <a:prstGeom prst="rect">
            <a:avLst/>
          </a:prstGeom>
          <a:noFill/>
          <a:ln/>
        </p:spPr>
        <p:txBody>
          <a:bodyPr wrap="square" lIns="0" tIns="0" rIns="0" bIns="0" rtlCol="0" anchor="ctr"/>
          <a:lstStyle/>
          <a:p>
            <a:pPr marL="0" indent="0">
              <a:buNone/>
            </a:pPr>
            <a:r>
              <a:rPr lang="en-US" sz="1300" b="1" dirty="0">
                <a:solidFill>
                  <a:srgbClr val="FFFFFF"/>
                </a:solidFill>
              </a:rPr>
              <a:t>Notion</a:t>
            </a:r>
            <a:endParaRPr lang="en-US" sz="1300" dirty="0"/>
          </a:p>
          <a:p>
            <a:pPr marL="0" indent="0">
              <a:buNone/>
            </a:pPr>
            <a:r>
              <a:rPr lang="en-US" sz="1000" dirty="0">
                <a:solidFill>
                  <a:srgbClr val="9AA3C2"/>
                </a:solidFill>
              </a:rPr>
              <a:t>10 test items</a:t>
            </a:r>
            <a:endParaRPr lang="en-US" sz="1300" dirty="0"/>
          </a:p>
        </p:txBody>
      </p:sp>
      <p:sp>
        <p:nvSpPr>
          <p:cNvPr id="18" name="Supabase chip"/>
          <p:cNvSpPr/>
          <p:nvPr/>
        </p:nvSpPr>
        <p:spPr>
          <a:xfrm>
            <a:off x="6629400" y="3520440"/>
            <a:ext cx="2011680" cy="685800"/>
          </a:xfrm>
          <a:prstGeom prst="roundRect">
            <a:avLst>
              <a:gd name="adj" fmla="val 13333"/>
            </a:avLst>
          </a:prstGeom>
          <a:solidFill>
            <a:srgbClr val="1F2850"/>
          </a:solidFill>
          <a:ln w="12700">
            <a:solidFill>
              <a:srgbClr val="2C3766"/>
            </a:solidFill>
            <a:prstDash val="solid"/>
          </a:ln>
        </p:spPr>
        <p:txBody>
          <a:bodyPr/>
          <a:lstStyle/>
          <a:p>
            <a:endParaRPr lang="en-US"/>
          </a:p>
        </p:txBody>
      </p:sp>
      <p:sp>
        <p:nvSpPr>
          <p:cNvPr id="19" name="Supabase circle"/>
          <p:cNvSpPr/>
          <p:nvPr/>
        </p:nvSpPr>
        <p:spPr>
          <a:xfrm>
            <a:off x="6766560" y="3630168"/>
            <a:ext cx="457200" cy="457200"/>
          </a:xfrm>
          <a:prstGeom prst="ellipse">
            <a:avLst/>
          </a:prstGeom>
          <a:solidFill>
            <a:srgbClr val="1F9E64"/>
          </a:solidFill>
          <a:ln w="12700">
            <a:solidFill>
              <a:srgbClr val="1F9E64"/>
            </a:solidFill>
            <a:prstDash val="solid"/>
          </a:ln>
        </p:spPr>
        <p:txBody>
          <a:bodyPr/>
          <a:lstStyle/>
          <a:p>
            <a:endParaRPr lang="en-US"/>
          </a:p>
        </p:txBody>
      </p:sp>
      <p:pic>
        <p:nvPicPr>
          <p:cNvPr id="20" name="Supabase icon" descr="preencoded.png"/>
          <p:cNvPicPr>
            <a:picLocks noChangeAspect="1"/>
          </p:cNvPicPr>
          <p:nvPr/>
        </p:nvPicPr>
        <p:blipFill>
          <a:blip r:embed="rId6"/>
          <a:stretch>
            <a:fillRect/>
          </a:stretch>
        </p:blipFill>
        <p:spPr>
          <a:xfrm>
            <a:off x="6885432" y="3749040"/>
            <a:ext cx="219456" cy="219456"/>
          </a:xfrm>
          <a:prstGeom prst="rect">
            <a:avLst/>
          </a:prstGeom>
        </p:spPr>
      </p:pic>
      <p:sp>
        <p:nvSpPr>
          <p:cNvPr id="21" name="Supabase label"/>
          <p:cNvSpPr txBox="1"/>
          <p:nvPr/>
        </p:nvSpPr>
        <p:spPr>
          <a:xfrm>
            <a:off x="7333488" y="3611880"/>
            <a:ext cx="1234440" cy="502920"/>
          </a:xfrm>
          <a:prstGeom prst="rect">
            <a:avLst/>
          </a:prstGeom>
          <a:noFill/>
          <a:ln/>
        </p:spPr>
        <p:txBody>
          <a:bodyPr wrap="square" lIns="0" tIns="0" rIns="0" bIns="0" rtlCol="0" anchor="ctr"/>
          <a:lstStyle/>
          <a:p>
            <a:pPr marL="0" indent="0">
              <a:buNone/>
            </a:pPr>
            <a:r>
              <a:rPr lang="en-US" sz="1300" b="1" dirty="0">
                <a:solidFill>
                  <a:srgbClr val="FFFFFF"/>
                </a:solidFill>
              </a:rPr>
              <a:t>Supabase</a:t>
            </a:r>
            <a:endParaRPr lang="en-US" sz="1300" dirty="0"/>
          </a:p>
          <a:p>
            <a:pPr marL="0" indent="0">
              <a:buNone/>
            </a:pPr>
            <a:r>
              <a:rPr lang="en-US" sz="1000" dirty="0">
                <a:solidFill>
                  <a:srgbClr val="9AA3C2"/>
                </a:solidFill>
              </a:rPr>
              <a:t>10 test items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100" dirty="0">
                <a:solidFill>
                  <a:schemeClr val="accent1"/>
                </a:solidFill>
              </a:rPr>
              <a:t>OVERVIEW</a:t>
            </a:r>
            <a:endParaRPr lang="en-US" sz="1100" dirty="0"/>
          </a:p>
        </p:txBody>
      </p:sp>
      <p:sp>
        <p:nvSpPr>
          <p:cNvPr id="3" name="Text 0"/>
          <p:cNvSpPr>
            <a:spLocks noGrp="1"/>
          </p:cNvSpPr>
          <p:nvPr>
            <p:ph type="title" idx="101" hasCustomPrompt="1"/>
          </p:nvPr>
        </p:nvSpPr>
        <p:spPr>
          <a:xfrm>
            <a:off x="457200" y="475488"/>
            <a:ext cx="8229600" cy="54864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From four cloud services to one local search</a:t>
            </a:r>
            <a:endParaRPr lang="en-US" sz="2600" dirty="0"/>
          </a:p>
        </p:txBody>
      </p:sp>
      <p:sp>
        <p:nvSpPr>
          <p:cNvPr id="4" name="Test data circle"/>
          <p:cNvSpPr/>
          <p:nvPr/>
        </p:nvSpPr>
        <p:spPr>
          <a:xfrm>
            <a:off x="914400" y="1417320"/>
            <a:ext cx="685800" cy="685800"/>
          </a:xfrm>
          <a:prstGeom prst="ellipse">
            <a:avLst/>
          </a:prstGeom>
          <a:solidFill>
            <a:srgbClr val="141B34"/>
          </a:solidFill>
          <a:ln w="12700">
            <a:solidFill>
              <a:srgbClr val="141B34"/>
            </a:solidFill>
            <a:prstDash val="solid"/>
          </a:ln>
        </p:spPr>
        <p:txBody>
          <a:bodyPr/>
          <a:lstStyle/>
          <a:p>
            <a:endParaRPr lang="en-US"/>
          </a:p>
        </p:txBody>
      </p:sp>
      <p:pic>
        <p:nvPicPr>
          <p:cNvPr id="5" name="Test data icon" descr="preencoded.png"/>
          <p:cNvPicPr>
            <a:picLocks noChangeAspect="1"/>
          </p:cNvPicPr>
          <p:nvPr/>
        </p:nvPicPr>
        <p:blipFill>
          <a:blip r:embed="rId3"/>
          <a:stretch>
            <a:fillRect/>
          </a:stretch>
        </p:blipFill>
        <p:spPr>
          <a:xfrm>
            <a:off x="1092708" y="1595628"/>
            <a:ext cx="329184" cy="329184"/>
          </a:xfrm>
          <a:prstGeom prst="rect">
            <a:avLst/>
          </a:prstGeom>
        </p:spPr>
      </p:pic>
      <p:sp>
        <p:nvSpPr>
          <p:cNvPr id="6" name="arrow 0"/>
          <p:cNvSpPr/>
          <p:nvPr/>
        </p:nvSpPr>
        <p:spPr>
          <a:xfrm>
            <a:off x="1691640" y="1760220"/>
            <a:ext cx="914400" cy="0"/>
          </a:xfrm>
          <a:prstGeom prst="line">
            <a:avLst/>
          </a:prstGeom>
          <a:noFill/>
          <a:ln w="19050">
            <a:solidFill>
              <a:srgbClr val="C5CAD8"/>
            </a:solidFill>
            <a:prstDash val="solid"/>
            <a:tailEnd type="triangle"/>
          </a:ln>
        </p:spPr>
        <p:txBody>
          <a:bodyPr/>
          <a:lstStyle/>
          <a:p>
            <a:endParaRPr lang="en-US"/>
          </a:p>
        </p:txBody>
      </p:sp>
      <p:sp>
        <p:nvSpPr>
          <p:cNvPr id="7" name="Test data title"/>
          <p:cNvSpPr txBox="1"/>
          <p:nvPr/>
        </p:nvSpPr>
        <p:spPr>
          <a:xfrm>
            <a:off x="457200" y="2240280"/>
            <a:ext cx="1600200" cy="274320"/>
          </a:xfrm>
          <a:prstGeom prst="rect">
            <a:avLst/>
          </a:prstGeom>
          <a:noFill/>
          <a:ln/>
        </p:spPr>
        <p:txBody>
          <a:bodyPr wrap="square" lIns="0" tIns="0" rIns="0" bIns="0" rtlCol="0" anchor="ctr"/>
          <a:lstStyle/>
          <a:p>
            <a:pPr marL="0" indent="0" algn="ctr">
              <a:buNone/>
            </a:pPr>
            <a:r>
              <a:rPr lang="en-US" sz="1300" b="1" dirty="0">
                <a:solidFill>
                  <a:schemeClr val="tx1"/>
                </a:solidFill>
              </a:rPr>
              <a:t>1. Test data</a:t>
            </a:r>
            <a:endParaRPr lang="en-US" sz="1300" dirty="0"/>
          </a:p>
        </p:txBody>
      </p:sp>
      <p:sp>
        <p:nvSpPr>
          <p:cNvPr id="8" name="Test data text"/>
          <p:cNvSpPr txBox="1"/>
          <p:nvPr/>
        </p:nvSpPr>
        <p:spPr>
          <a:xfrm>
            <a:off x="502920" y="2542032"/>
            <a:ext cx="1508760" cy="548640"/>
          </a:xfrm>
          <a:prstGeom prst="rect">
            <a:avLst/>
          </a:prstGeom>
          <a:noFill/>
          <a:ln/>
        </p:spPr>
        <p:txBody>
          <a:bodyPr wrap="square" lIns="0" tIns="0" rIns="0" bIns="0" rtlCol="0" anchor="t"/>
          <a:lstStyle/>
          <a:p>
            <a:pPr marL="0" indent="0" algn="ctr">
              <a:buNone/>
            </a:pPr>
            <a:r>
              <a:rPr lang="en-US" sz="1100" dirty="0">
                <a:solidFill>
                  <a:schemeClr val="tx2"/>
                </a:solidFill>
              </a:rPr>
              <a:t>10 fake items in each service</a:t>
            </a:r>
            <a:endParaRPr lang="en-US" sz="1100" dirty="0"/>
          </a:p>
        </p:txBody>
      </p:sp>
      <p:sp>
        <p:nvSpPr>
          <p:cNvPr id="9" name="MCP servers circle"/>
          <p:cNvSpPr/>
          <p:nvPr/>
        </p:nvSpPr>
        <p:spPr>
          <a:xfrm>
            <a:off x="2606040" y="1417320"/>
            <a:ext cx="685800" cy="685800"/>
          </a:xfrm>
          <a:prstGeom prst="ellipse">
            <a:avLst/>
          </a:prstGeom>
          <a:solidFill>
            <a:srgbClr val="141B34"/>
          </a:solidFill>
          <a:ln w="12700">
            <a:solidFill>
              <a:srgbClr val="141B34"/>
            </a:solidFill>
            <a:prstDash val="solid"/>
          </a:ln>
        </p:spPr>
        <p:txBody>
          <a:bodyPr/>
          <a:lstStyle/>
          <a:p>
            <a:endParaRPr lang="en-US"/>
          </a:p>
        </p:txBody>
      </p:sp>
      <p:pic>
        <p:nvPicPr>
          <p:cNvPr id="10" name="MCP servers icon" descr="preencoded.png"/>
          <p:cNvPicPr>
            <a:picLocks noChangeAspect="1"/>
          </p:cNvPicPr>
          <p:nvPr/>
        </p:nvPicPr>
        <p:blipFill>
          <a:blip r:embed="rId4"/>
          <a:stretch>
            <a:fillRect/>
          </a:stretch>
        </p:blipFill>
        <p:spPr>
          <a:xfrm>
            <a:off x="2784348" y="1595628"/>
            <a:ext cx="329184" cy="329184"/>
          </a:xfrm>
          <a:prstGeom prst="rect">
            <a:avLst/>
          </a:prstGeom>
        </p:spPr>
      </p:pic>
      <p:sp>
        <p:nvSpPr>
          <p:cNvPr id="11" name="arrow 1"/>
          <p:cNvSpPr/>
          <p:nvPr/>
        </p:nvSpPr>
        <p:spPr>
          <a:xfrm>
            <a:off x="3383280" y="1760220"/>
            <a:ext cx="914400" cy="0"/>
          </a:xfrm>
          <a:prstGeom prst="line">
            <a:avLst/>
          </a:prstGeom>
          <a:noFill/>
          <a:ln w="19050">
            <a:solidFill>
              <a:srgbClr val="C5CAD8"/>
            </a:solidFill>
            <a:prstDash val="solid"/>
            <a:tailEnd type="triangle"/>
          </a:ln>
        </p:spPr>
        <p:txBody>
          <a:bodyPr/>
          <a:lstStyle/>
          <a:p>
            <a:endParaRPr lang="en-US"/>
          </a:p>
        </p:txBody>
      </p:sp>
      <p:sp>
        <p:nvSpPr>
          <p:cNvPr id="12" name="MCP servers title"/>
          <p:cNvSpPr txBox="1"/>
          <p:nvPr/>
        </p:nvSpPr>
        <p:spPr>
          <a:xfrm>
            <a:off x="2148840" y="2240280"/>
            <a:ext cx="1600200" cy="274320"/>
          </a:xfrm>
          <a:prstGeom prst="rect">
            <a:avLst/>
          </a:prstGeom>
          <a:noFill/>
          <a:ln/>
        </p:spPr>
        <p:txBody>
          <a:bodyPr wrap="square" lIns="0" tIns="0" rIns="0" bIns="0" rtlCol="0" anchor="ctr"/>
          <a:lstStyle/>
          <a:p>
            <a:pPr marL="0" indent="0" algn="ctr">
              <a:buNone/>
            </a:pPr>
            <a:r>
              <a:rPr lang="en-US" sz="1300" b="1" dirty="0">
                <a:solidFill>
                  <a:schemeClr val="tx1"/>
                </a:solidFill>
              </a:rPr>
              <a:t>2. MCP servers</a:t>
            </a:r>
            <a:endParaRPr lang="en-US" sz="1300" dirty="0"/>
          </a:p>
        </p:txBody>
      </p:sp>
      <p:sp>
        <p:nvSpPr>
          <p:cNvPr id="13" name="MCP servers text"/>
          <p:cNvSpPr txBox="1"/>
          <p:nvPr/>
        </p:nvSpPr>
        <p:spPr>
          <a:xfrm>
            <a:off x="2194560" y="2542032"/>
            <a:ext cx="1508760" cy="548640"/>
          </a:xfrm>
          <a:prstGeom prst="rect">
            <a:avLst/>
          </a:prstGeom>
          <a:noFill/>
          <a:ln/>
        </p:spPr>
        <p:txBody>
          <a:bodyPr wrap="square" lIns="0" tIns="0" rIns="0" bIns="0" rtlCol="0" anchor="t"/>
          <a:lstStyle/>
          <a:p>
            <a:pPr marL="0" indent="0" algn="ctr">
              <a:buNone/>
            </a:pPr>
            <a:r>
              <a:rPr lang="en-US" sz="1100" dirty="0">
                <a:solidFill>
                  <a:schemeClr val="tx2"/>
                </a:solidFill>
              </a:rPr>
              <a:t>Claude Code connects to all four</a:t>
            </a:r>
            <a:endParaRPr lang="en-US" sz="1100" dirty="0"/>
          </a:p>
        </p:txBody>
      </p:sp>
      <p:sp>
        <p:nvSpPr>
          <p:cNvPr id="14" name="Export skill circle"/>
          <p:cNvSpPr/>
          <p:nvPr/>
        </p:nvSpPr>
        <p:spPr>
          <a:xfrm>
            <a:off x="4297680" y="1417320"/>
            <a:ext cx="685800" cy="685800"/>
          </a:xfrm>
          <a:prstGeom prst="ellipse">
            <a:avLst/>
          </a:prstGeom>
          <a:solidFill>
            <a:srgbClr val="141B34"/>
          </a:solidFill>
          <a:ln w="12700">
            <a:solidFill>
              <a:srgbClr val="141B34"/>
            </a:solidFill>
            <a:prstDash val="solid"/>
          </a:ln>
        </p:spPr>
        <p:txBody>
          <a:bodyPr/>
          <a:lstStyle/>
          <a:p>
            <a:endParaRPr lang="en-US"/>
          </a:p>
        </p:txBody>
      </p:sp>
      <p:pic>
        <p:nvPicPr>
          <p:cNvPr id="15" name="Export skill icon" descr="preencoded.png"/>
          <p:cNvPicPr>
            <a:picLocks noChangeAspect="1"/>
          </p:cNvPicPr>
          <p:nvPr/>
        </p:nvPicPr>
        <p:blipFill>
          <a:blip r:embed="rId5"/>
          <a:stretch>
            <a:fillRect/>
          </a:stretch>
        </p:blipFill>
        <p:spPr>
          <a:xfrm>
            <a:off x="4475988" y="1595628"/>
            <a:ext cx="329184" cy="329184"/>
          </a:xfrm>
          <a:prstGeom prst="rect">
            <a:avLst/>
          </a:prstGeom>
        </p:spPr>
      </p:pic>
      <p:sp>
        <p:nvSpPr>
          <p:cNvPr id="16" name="arrow 2"/>
          <p:cNvSpPr/>
          <p:nvPr/>
        </p:nvSpPr>
        <p:spPr>
          <a:xfrm>
            <a:off x="5074920" y="1760220"/>
            <a:ext cx="914400" cy="0"/>
          </a:xfrm>
          <a:prstGeom prst="line">
            <a:avLst/>
          </a:prstGeom>
          <a:noFill/>
          <a:ln w="19050">
            <a:solidFill>
              <a:srgbClr val="C5CAD8"/>
            </a:solidFill>
            <a:prstDash val="solid"/>
            <a:tailEnd type="triangle"/>
          </a:ln>
        </p:spPr>
        <p:txBody>
          <a:bodyPr/>
          <a:lstStyle/>
          <a:p>
            <a:endParaRPr lang="en-US"/>
          </a:p>
        </p:txBody>
      </p:sp>
      <p:sp>
        <p:nvSpPr>
          <p:cNvPr id="17" name="Export skill title"/>
          <p:cNvSpPr txBox="1"/>
          <p:nvPr/>
        </p:nvSpPr>
        <p:spPr>
          <a:xfrm>
            <a:off x="3840480" y="2240280"/>
            <a:ext cx="1600200" cy="274320"/>
          </a:xfrm>
          <a:prstGeom prst="rect">
            <a:avLst/>
          </a:prstGeom>
          <a:noFill/>
          <a:ln/>
        </p:spPr>
        <p:txBody>
          <a:bodyPr wrap="square" lIns="0" tIns="0" rIns="0" bIns="0" rtlCol="0" anchor="ctr"/>
          <a:lstStyle/>
          <a:p>
            <a:pPr marL="0" indent="0" algn="ctr">
              <a:buNone/>
            </a:pPr>
            <a:r>
              <a:rPr lang="en-US" sz="1300" b="1" dirty="0">
                <a:solidFill>
                  <a:schemeClr val="tx1"/>
                </a:solidFill>
              </a:rPr>
              <a:t>3. Export skill</a:t>
            </a:r>
            <a:endParaRPr lang="en-US" sz="1300" dirty="0"/>
          </a:p>
        </p:txBody>
      </p:sp>
      <p:sp>
        <p:nvSpPr>
          <p:cNvPr id="18" name="Export skill text"/>
          <p:cNvSpPr txBox="1"/>
          <p:nvPr/>
        </p:nvSpPr>
        <p:spPr>
          <a:xfrm>
            <a:off x="3886200" y="2542032"/>
            <a:ext cx="1508760" cy="548640"/>
          </a:xfrm>
          <a:prstGeom prst="rect">
            <a:avLst/>
          </a:prstGeom>
          <a:noFill/>
          <a:ln/>
        </p:spPr>
        <p:txBody>
          <a:bodyPr wrap="square" lIns="0" tIns="0" rIns="0" bIns="0" rtlCol="0" anchor="t"/>
          <a:lstStyle/>
          <a:p>
            <a:pPr marL="0" indent="0" algn="ctr">
              <a:buNone/>
            </a:pPr>
            <a:r>
              <a:rPr lang="en-US" sz="1100" dirty="0">
                <a:solidFill>
                  <a:schemeClr val="tx2"/>
                </a:solidFill>
              </a:rPr>
              <a:t>export-services repeats the download</a:t>
            </a:r>
            <a:endParaRPr lang="en-US" sz="1100" dirty="0"/>
          </a:p>
        </p:txBody>
      </p:sp>
      <p:sp>
        <p:nvSpPr>
          <p:cNvPr id="19" name="dataExports/ circle"/>
          <p:cNvSpPr/>
          <p:nvPr/>
        </p:nvSpPr>
        <p:spPr>
          <a:xfrm>
            <a:off x="5989320" y="1417320"/>
            <a:ext cx="685800" cy="685800"/>
          </a:xfrm>
          <a:prstGeom prst="ellipse">
            <a:avLst/>
          </a:prstGeom>
          <a:solidFill>
            <a:srgbClr val="141B34"/>
          </a:solidFill>
          <a:ln w="12700">
            <a:solidFill>
              <a:srgbClr val="141B34"/>
            </a:solidFill>
            <a:prstDash val="solid"/>
          </a:ln>
        </p:spPr>
        <p:txBody>
          <a:bodyPr/>
          <a:lstStyle/>
          <a:p>
            <a:endParaRPr lang="en-US"/>
          </a:p>
        </p:txBody>
      </p:sp>
      <p:pic>
        <p:nvPicPr>
          <p:cNvPr id="20" name="dataExports/ icon" descr="preencoded.png"/>
          <p:cNvPicPr>
            <a:picLocks noChangeAspect="1"/>
          </p:cNvPicPr>
          <p:nvPr/>
        </p:nvPicPr>
        <p:blipFill>
          <a:blip r:embed="rId6"/>
          <a:stretch>
            <a:fillRect/>
          </a:stretch>
        </p:blipFill>
        <p:spPr>
          <a:xfrm>
            <a:off x="6167628" y="1595628"/>
            <a:ext cx="329184" cy="329184"/>
          </a:xfrm>
          <a:prstGeom prst="rect">
            <a:avLst/>
          </a:prstGeom>
        </p:spPr>
      </p:pic>
      <p:sp>
        <p:nvSpPr>
          <p:cNvPr id="21" name="arrow 3"/>
          <p:cNvSpPr/>
          <p:nvPr/>
        </p:nvSpPr>
        <p:spPr>
          <a:xfrm>
            <a:off x="6766560" y="1760220"/>
            <a:ext cx="914400" cy="0"/>
          </a:xfrm>
          <a:prstGeom prst="line">
            <a:avLst/>
          </a:prstGeom>
          <a:noFill/>
          <a:ln w="19050">
            <a:solidFill>
              <a:srgbClr val="C5CAD8"/>
            </a:solidFill>
            <a:prstDash val="solid"/>
            <a:tailEnd type="triangle"/>
          </a:ln>
        </p:spPr>
        <p:txBody>
          <a:bodyPr/>
          <a:lstStyle/>
          <a:p>
            <a:endParaRPr lang="en-US"/>
          </a:p>
        </p:txBody>
      </p:sp>
      <p:sp>
        <p:nvSpPr>
          <p:cNvPr id="22" name="dataExports/ title"/>
          <p:cNvSpPr txBox="1"/>
          <p:nvPr/>
        </p:nvSpPr>
        <p:spPr>
          <a:xfrm>
            <a:off x="5532120" y="2240280"/>
            <a:ext cx="1600200" cy="274320"/>
          </a:xfrm>
          <a:prstGeom prst="rect">
            <a:avLst/>
          </a:prstGeom>
          <a:noFill/>
          <a:ln/>
        </p:spPr>
        <p:txBody>
          <a:bodyPr wrap="square" lIns="0" tIns="0" rIns="0" bIns="0" rtlCol="0" anchor="ctr"/>
          <a:lstStyle/>
          <a:p>
            <a:pPr marL="0" indent="0" algn="ctr">
              <a:buNone/>
            </a:pPr>
            <a:r>
              <a:rPr lang="en-US" sz="1300" b="1" dirty="0">
                <a:solidFill>
                  <a:schemeClr val="tx1"/>
                </a:solidFill>
              </a:rPr>
              <a:t>4. dataExports/</a:t>
            </a:r>
            <a:endParaRPr lang="en-US" sz="1300" dirty="0"/>
          </a:p>
        </p:txBody>
      </p:sp>
      <p:sp>
        <p:nvSpPr>
          <p:cNvPr id="23" name="dataExports/ text"/>
          <p:cNvSpPr txBox="1"/>
          <p:nvPr/>
        </p:nvSpPr>
        <p:spPr>
          <a:xfrm>
            <a:off x="5577840" y="2542032"/>
            <a:ext cx="1508760" cy="548640"/>
          </a:xfrm>
          <a:prstGeom prst="rect">
            <a:avLst/>
          </a:prstGeom>
          <a:noFill/>
          <a:ln/>
        </p:spPr>
        <p:txBody>
          <a:bodyPr wrap="square" lIns="0" tIns="0" rIns="0" bIns="0" rtlCol="0" anchor="t"/>
          <a:lstStyle/>
          <a:p>
            <a:pPr marL="0" indent="0" algn="ctr">
              <a:buNone/>
            </a:pPr>
            <a:r>
              <a:rPr lang="en-US" sz="1100" dirty="0">
                <a:solidFill>
                  <a:schemeClr val="tx2"/>
                </a:solidFill>
              </a:rPr>
              <a:t>One folder per service, with metadata</a:t>
            </a:r>
            <a:endParaRPr lang="en-US" sz="1100" dirty="0"/>
          </a:p>
        </p:txBody>
      </p:sp>
      <p:sp>
        <p:nvSpPr>
          <p:cNvPr id="24" name="Dashboard circle"/>
          <p:cNvSpPr/>
          <p:nvPr/>
        </p:nvSpPr>
        <p:spPr>
          <a:xfrm>
            <a:off x="7680960" y="1417320"/>
            <a:ext cx="685800" cy="685800"/>
          </a:xfrm>
          <a:prstGeom prst="ellipse">
            <a:avLst/>
          </a:prstGeom>
          <a:solidFill>
            <a:srgbClr val="F26B3A"/>
          </a:solidFill>
          <a:ln w="12700">
            <a:solidFill>
              <a:srgbClr val="F26B3A"/>
            </a:solidFill>
            <a:prstDash val="solid"/>
          </a:ln>
        </p:spPr>
        <p:txBody>
          <a:bodyPr/>
          <a:lstStyle/>
          <a:p>
            <a:endParaRPr lang="en-US"/>
          </a:p>
        </p:txBody>
      </p:sp>
      <p:pic>
        <p:nvPicPr>
          <p:cNvPr id="25" name="Dashboard icon" descr="preencoded.png"/>
          <p:cNvPicPr>
            <a:picLocks noChangeAspect="1"/>
          </p:cNvPicPr>
          <p:nvPr/>
        </p:nvPicPr>
        <p:blipFill>
          <a:blip r:embed="rId7"/>
          <a:stretch>
            <a:fillRect/>
          </a:stretch>
        </p:blipFill>
        <p:spPr>
          <a:xfrm>
            <a:off x="7859268" y="1595628"/>
            <a:ext cx="329184" cy="329184"/>
          </a:xfrm>
          <a:prstGeom prst="rect">
            <a:avLst/>
          </a:prstGeom>
        </p:spPr>
      </p:pic>
      <p:sp>
        <p:nvSpPr>
          <p:cNvPr id="26" name="Dashboard title"/>
          <p:cNvSpPr txBox="1"/>
          <p:nvPr/>
        </p:nvSpPr>
        <p:spPr>
          <a:xfrm>
            <a:off x="7223760" y="2240280"/>
            <a:ext cx="1600200" cy="274320"/>
          </a:xfrm>
          <a:prstGeom prst="rect">
            <a:avLst/>
          </a:prstGeom>
          <a:noFill/>
          <a:ln/>
        </p:spPr>
        <p:txBody>
          <a:bodyPr wrap="square" lIns="0" tIns="0" rIns="0" bIns="0" rtlCol="0" anchor="ctr"/>
          <a:lstStyle/>
          <a:p>
            <a:pPr marL="0" indent="0" algn="ctr">
              <a:buNone/>
            </a:pPr>
            <a:r>
              <a:rPr lang="en-US" sz="1300" b="1" dirty="0">
                <a:solidFill>
                  <a:schemeClr val="tx1"/>
                </a:solidFill>
              </a:rPr>
              <a:t>5. Dashboard</a:t>
            </a:r>
            <a:endParaRPr lang="en-US" sz="1300" dirty="0"/>
          </a:p>
        </p:txBody>
      </p:sp>
      <p:sp>
        <p:nvSpPr>
          <p:cNvPr id="27" name="Dashboard text"/>
          <p:cNvSpPr txBox="1"/>
          <p:nvPr/>
        </p:nvSpPr>
        <p:spPr>
          <a:xfrm>
            <a:off x="7269480" y="2542032"/>
            <a:ext cx="1508760" cy="548640"/>
          </a:xfrm>
          <a:prstGeom prst="rect">
            <a:avLst/>
          </a:prstGeom>
          <a:noFill/>
          <a:ln/>
        </p:spPr>
        <p:txBody>
          <a:bodyPr wrap="square" lIns="0" tIns="0" rIns="0" bIns="0" rtlCol="0" anchor="t"/>
          <a:lstStyle/>
          <a:p>
            <a:pPr marL="0" indent="0" algn="ctr">
              <a:buNone/>
            </a:pPr>
            <a:r>
              <a:rPr lang="en-US" sz="1100" dirty="0">
                <a:solidFill>
                  <a:schemeClr val="tx2"/>
                </a:solidFill>
              </a:rPr>
              <a:t>One search box over every file</a:t>
            </a:r>
            <a:endParaRPr lang="en-US" sz="1100" dirty="0"/>
          </a:p>
        </p:txBody>
      </p:sp>
      <p:sp>
        <p:nvSpPr>
          <p:cNvPr id="28" name="stat 0"/>
          <p:cNvSpPr/>
          <p:nvPr/>
        </p:nvSpPr>
        <p:spPr>
          <a:xfrm>
            <a:off x="457200" y="3429000"/>
            <a:ext cx="1920240" cy="1097280"/>
          </a:xfrm>
          <a:prstGeom prst="roundRect">
            <a:avLst>
              <a:gd name="adj" fmla="val 8333"/>
            </a:avLst>
          </a:prstGeom>
          <a:solidFill>
            <a:srgbClr val="F3F4F8"/>
          </a:solidFill>
          <a:ln w="12700">
            <a:solidFill>
              <a:srgbClr val="F3F4F8"/>
            </a:solidFill>
            <a:prstDash val="solid"/>
          </a:ln>
        </p:spPr>
        <p:txBody>
          <a:bodyPr/>
          <a:lstStyle/>
          <a:p>
            <a:endParaRPr lang="en-US"/>
          </a:p>
        </p:txBody>
      </p:sp>
      <p:sp>
        <p:nvSpPr>
          <p:cNvPr id="29" name="stat value 0"/>
          <p:cNvSpPr txBox="1"/>
          <p:nvPr/>
        </p:nvSpPr>
        <p:spPr>
          <a:xfrm>
            <a:off x="640080" y="3493008"/>
            <a:ext cx="1554480" cy="594360"/>
          </a:xfrm>
          <a:prstGeom prst="rect">
            <a:avLst/>
          </a:prstGeom>
          <a:noFill/>
          <a:ln/>
        </p:spPr>
        <p:txBody>
          <a:bodyPr wrap="square" lIns="0" tIns="0" rIns="0" bIns="0" rtlCol="0" anchor="ctr"/>
          <a:lstStyle/>
          <a:p>
            <a:pPr marL="0" indent="0">
              <a:buNone/>
            </a:pPr>
            <a:r>
              <a:rPr lang="en-US" sz="3400" b="1" dirty="0">
                <a:solidFill>
                  <a:schemeClr val="tx1"/>
                </a:solidFill>
                <a:latin typeface="Arial" pitchFamily="34" charset="0"/>
                <a:ea typeface="Arial" pitchFamily="34" charset="-122"/>
                <a:cs typeface="Arial" pitchFamily="34" charset="-120"/>
              </a:rPr>
              <a:t>4</a:t>
            </a:r>
            <a:endParaRPr lang="en-US" sz="3400" dirty="0"/>
          </a:p>
        </p:txBody>
      </p:sp>
      <p:sp>
        <p:nvSpPr>
          <p:cNvPr id="30" name="stat label 0"/>
          <p:cNvSpPr txBox="1"/>
          <p:nvPr/>
        </p:nvSpPr>
        <p:spPr>
          <a:xfrm>
            <a:off x="640080" y="4069080"/>
            <a:ext cx="1645920" cy="320040"/>
          </a:xfrm>
          <a:prstGeom prst="rect">
            <a:avLst/>
          </a:prstGeom>
          <a:noFill/>
          <a:ln/>
        </p:spPr>
        <p:txBody>
          <a:bodyPr wrap="square" lIns="0" tIns="0" rIns="0" bIns="0" rtlCol="0" anchor="ctr"/>
          <a:lstStyle/>
          <a:p>
            <a:pPr marL="0" indent="0">
              <a:buNone/>
            </a:pPr>
            <a:r>
              <a:rPr lang="en-US" sz="1100" dirty="0">
                <a:solidFill>
                  <a:schemeClr val="tx2"/>
                </a:solidFill>
              </a:rPr>
              <a:t>services connected</a:t>
            </a:r>
            <a:endParaRPr lang="en-US" sz="1100" dirty="0"/>
          </a:p>
        </p:txBody>
      </p:sp>
      <p:sp>
        <p:nvSpPr>
          <p:cNvPr id="31" name="stat 1"/>
          <p:cNvSpPr/>
          <p:nvPr/>
        </p:nvSpPr>
        <p:spPr>
          <a:xfrm>
            <a:off x="2560320" y="3429000"/>
            <a:ext cx="1920240" cy="1097280"/>
          </a:xfrm>
          <a:prstGeom prst="roundRect">
            <a:avLst>
              <a:gd name="adj" fmla="val 8333"/>
            </a:avLst>
          </a:prstGeom>
          <a:solidFill>
            <a:srgbClr val="F3F4F8"/>
          </a:solidFill>
          <a:ln w="12700">
            <a:solidFill>
              <a:srgbClr val="F3F4F8"/>
            </a:solidFill>
            <a:prstDash val="solid"/>
          </a:ln>
        </p:spPr>
        <p:txBody>
          <a:bodyPr/>
          <a:lstStyle/>
          <a:p>
            <a:endParaRPr lang="en-US"/>
          </a:p>
        </p:txBody>
      </p:sp>
      <p:sp>
        <p:nvSpPr>
          <p:cNvPr id="32" name="stat value 1"/>
          <p:cNvSpPr txBox="1"/>
          <p:nvPr/>
        </p:nvSpPr>
        <p:spPr>
          <a:xfrm>
            <a:off x="2743200" y="3493008"/>
            <a:ext cx="1554480" cy="594360"/>
          </a:xfrm>
          <a:prstGeom prst="rect">
            <a:avLst/>
          </a:prstGeom>
          <a:noFill/>
          <a:ln/>
        </p:spPr>
        <p:txBody>
          <a:bodyPr wrap="square" lIns="0" tIns="0" rIns="0" bIns="0" rtlCol="0" anchor="ctr"/>
          <a:lstStyle/>
          <a:p>
            <a:pPr marL="0" indent="0">
              <a:buNone/>
            </a:pPr>
            <a:r>
              <a:rPr lang="en-US" sz="3400" b="1" dirty="0">
                <a:solidFill>
                  <a:schemeClr val="tx1"/>
                </a:solidFill>
                <a:latin typeface="Arial" pitchFamily="34" charset="0"/>
                <a:ea typeface="Arial" pitchFamily="34" charset="-122"/>
                <a:cs typeface="Arial" pitchFamily="34" charset="-120"/>
              </a:rPr>
              <a:t>40</a:t>
            </a:r>
            <a:endParaRPr lang="en-US" sz="3400" dirty="0"/>
          </a:p>
        </p:txBody>
      </p:sp>
      <p:sp>
        <p:nvSpPr>
          <p:cNvPr id="33" name="stat label 1"/>
          <p:cNvSpPr txBox="1"/>
          <p:nvPr/>
        </p:nvSpPr>
        <p:spPr>
          <a:xfrm>
            <a:off x="2743200" y="4069080"/>
            <a:ext cx="1645920" cy="320040"/>
          </a:xfrm>
          <a:prstGeom prst="rect">
            <a:avLst/>
          </a:prstGeom>
          <a:noFill/>
          <a:ln/>
        </p:spPr>
        <p:txBody>
          <a:bodyPr wrap="square" lIns="0" tIns="0" rIns="0" bIns="0" rtlCol="0" anchor="ctr"/>
          <a:lstStyle/>
          <a:p>
            <a:pPr marL="0" indent="0">
              <a:buNone/>
            </a:pPr>
            <a:r>
              <a:rPr lang="en-US" sz="1100" dirty="0">
                <a:solidFill>
                  <a:schemeClr val="tx2"/>
                </a:solidFill>
              </a:rPr>
              <a:t>test items exported</a:t>
            </a:r>
            <a:endParaRPr lang="en-US" sz="1100" dirty="0"/>
          </a:p>
        </p:txBody>
      </p:sp>
      <p:sp>
        <p:nvSpPr>
          <p:cNvPr id="34" name="stat 2"/>
          <p:cNvSpPr/>
          <p:nvPr/>
        </p:nvSpPr>
        <p:spPr>
          <a:xfrm>
            <a:off x="4663440" y="3429000"/>
            <a:ext cx="1920240" cy="1097280"/>
          </a:xfrm>
          <a:prstGeom prst="roundRect">
            <a:avLst>
              <a:gd name="adj" fmla="val 8333"/>
            </a:avLst>
          </a:prstGeom>
          <a:solidFill>
            <a:srgbClr val="F3F4F8"/>
          </a:solidFill>
          <a:ln w="12700">
            <a:solidFill>
              <a:srgbClr val="F3F4F8"/>
            </a:solidFill>
            <a:prstDash val="solid"/>
          </a:ln>
        </p:spPr>
        <p:txBody>
          <a:bodyPr/>
          <a:lstStyle/>
          <a:p>
            <a:endParaRPr lang="en-US"/>
          </a:p>
        </p:txBody>
      </p:sp>
      <p:sp>
        <p:nvSpPr>
          <p:cNvPr id="35" name="stat value 2"/>
          <p:cNvSpPr txBox="1"/>
          <p:nvPr/>
        </p:nvSpPr>
        <p:spPr>
          <a:xfrm>
            <a:off x="4846320" y="3493008"/>
            <a:ext cx="1554480" cy="594360"/>
          </a:xfrm>
          <a:prstGeom prst="rect">
            <a:avLst/>
          </a:prstGeom>
          <a:noFill/>
          <a:ln/>
        </p:spPr>
        <p:txBody>
          <a:bodyPr wrap="square" lIns="0" tIns="0" rIns="0" bIns="0" rtlCol="0" anchor="ctr"/>
          <a:lstStyle/>
          <a:p>
            <a:pPr marL="0" indent="0">
              <a:buNone/>
            </a:pPr>
            <a:r>
              <a:rPr lang="en-US" sz="3400" b="1" dirty="0">
                <a:solidFill>
                  <a:schemeClr val="tx1"/>
                </a:solidFill>
                <a:latin typeface="Arial" pitchFamily="34" charset="0"/>
                <a:ea typeface="Arial" pitchFamily="34" charset="-122"/>
                <a:cs typeface="Arial" pitchFamily="34" charset="-120"/>
              </a:rPr>
              <a:t>1</a:t>
            </a:r>
            <a:endParaRPr lang="en-US" sz="3400" dirty="0"/>
          </a:p>
        </p:txBody>
      </p:sp>
      <p:sp>
        <p:nvSpPr>
          <p:cNvPr id="36" name="stat label 2"/>
          <p:cNvSpPr txBox="1"/>
          <p:nvPr/>
        </p:nvSpPr>
        <p:spPr>
          <a:xfrm>
            <a:off x="4846320" y="4069080"/>
            <a:ext cx="1645920" cy="320040"/>
          </a:xfrm>
          <a:prstGeom prst="rect">
            <a:avLst/>
          </a:prstGeom>
          <a:noFill/>
          <a:ln/>
        </p:spPr>
        <p:txBody>
          <a:bodyPr wrap="square" lIns="0" tIns="0" rIns="0" bIns="0" rtlCol="0" anchor="ctr"/>
          <a:lstStyle/>
          <a:p>
            <a:pPr marL="0" indent="0">
              <a:buNone/>
            </a:pPr>
            <a:r>
              <a:rPr lang="en-US" sz="1100" dirty="0">
                <a:solidFill>
                  <a:schemeClr val="tx2"/>
                </a:solidFill>
              </a:rPr>
              <a:t>reusable Claude Code skill</a:t>
            </a:r>
            <a:endParaRPr lang="en-US" sz="1100" dirty="0"/>
          </a:p>
        </p:txBody>
      </p:sp>
      <p:sp>
        <p:nvSpPr>
          <p:cNvPr id="37" name="stat 3"/>
          <p:cNvSpPr/>
          <p:nvPr/>
        </p:nvSpPr>
        <p:spPr>
          <a:xfrm>
            <a:off x="6766560" y="3429000"/>
            <a:ext cx="1920240" cy="1097280"/>
          </a:xfrm>
          <a:prstGeom prst="roundRect">
            <a:avLst>
              <a:gd name="adj" fmla="val 8333"/>
            </a:avLst>
          </a:prstGeom>
          <a:solidFill>
            <a:srgbClr val="F3F4F8"/>
          </a:solidFill>
          <a:ln w="12700">
            <a:solidFill>
              <a:srgbClr val="F3F4F8"/>
            </a:solidFill>
            <a:prstDash val="solid"/>
          </a:ln>
        </p:spPr>
        <p:txBody>
          <a:bodyPr/>
          <a:lstStyle/>
          <a:p>
            <a:endParaRPr lang="en-US"/>
          </a:p>
        </p:txBody>
      </p:sp>
      <p:sp>
        <p:nvSpPr>
          <p:cNvPr id="38" name="stat value 3"/>
          <p:cNvSpPr txBox="1"/>
          <p:nvPr/>
        </p:nvSpPr>
        <p:spPr>
          <a:xfrm>
            <a:off x="6949440" y="3493008"/>
            <a:ext cx="1554480" cy="594360"/>
          </a:xfrm>
          <a:prstGeom prst="rect">
            <a:avLst/>
          </a:prstGeom>
          <a:noFill/>
          <a:ln/>
        </p:spPr>
        <p:txBody>
          <a:bodyPr wrap="square" lIns="0" tIns="0" rIns="0" bIns="0" rtlCol="0" anchor="ctr"/>
          <a:lstStyle/>
          <a:p>
            <a:pPr marL="0" indent="0">
              <a:buNone/>
            </a:pPr>
            <a:r>
              <a:rPr lang="en-US" sz="3400" b="1" dirty="0">
                <a:solidFill>
                  <a:schemeClr val="accent1"/>
                </a:solidFill>
                <a:latin typeface="Arial" pitchFamily="34" charset="0"/>
                <a:ea typeface="Arial" pitchFamily="34" charset="-122"/>
                <a:cs typeface="Arial" pitchFamily="34" charset="-120"/>
              </a:rPr>
              <a:t>0</a:t>
            </a:r>
            <a:endParaRPr lang="en-US" sz="3400" dirty="0"/>
          </a:p>
        </p:txBody>
      </p:sp>
      <p:sp>
        <p:nvSpPr>
          <p:cNvPr id="39" name="stat label 3"/>
          <p:cNvSpPr txBox="1"/>
          <p:nvPr/>
        </p:nvSpPr>
        <p:spPr>
          <a:xfrm>
            <a:off x="6949440" y="4069080"/>
            <a:ext cx="1645920" cy="320040"/>
          </a:xfrm>
          <a:prstGeom prst="rect">
            <a:avLst/>
          </a:prstGeom>
          <a:noFill/>
          <a:ln/>
        </p:spPr>
        <p:txBody>
          <a:bodyPr wrap="square" lIns="0" tIns="0" rIns="0" bIns="0" rtlCol="0" anchor="ctr"/>
          <a:lstStyle/>
          <a:p>
            <a:pPr marL="0" indent="0">
              <a:buNone/>
            </a:pPr>
            <a:r>
              <a:rPr lang="en-US" sz="1100" dirty="0">
                <a:solidFill>
                  <a:schemeClr val="tx2"/>
                </a:solidFill>
              </a:rPr>
              <a:t>secrets in the public repo</a:t>
            </a:r>
            <a:endParaRPr lang="en-US" sz="1100" dirty="0"/>
          </a:p>
        </p:txBody>
      </p:sp>
      <p:sp>
        <p:nvSpPr>
          <p:cNvPr id="40" name="Slide Number Placeholder 0"/>
          <p:cNvSpPr>
            <a:spLocks noGrp="1"/>
          </p:cNvSpPr>
          <p:nvPr>
            <p:ph type="sldNum" sz="quarter" idx="4294967295"/>
          </p:nvPr>
        </p:nvSpPr>
        <p:spPr>
          <a:xfrm>
            <a:off x="8321040" y="4828032"/>
            <a:ext cx="36576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100" dirty="0">
                <a:solidFill>
                  <a:schemeClr val="accent1"/>
                </a:solidFill>
              </a:rPr>
              <a:t>TEST ACCOUNTS AND DATA</a:t>
            </a:r>
            <a:endParaRPr lang="en-US" sz="1100" dirty="0"/>
          </a:p>
        </p:txBody>
      </p:sp>
      <p:sp>
        <p:nvSpPr>
          <p:cNvPr id="3" name="Text 0"/>
          <p:cNvSpPr>
            <a:spLocks noGrp="1"/>
          </p:cNvSpPr>
          <p:nvPr>
            <p:ph type="title" idx="101" hasCustomPrompt="1"/>
          </p:nvPr>
        </p:nvSpPr>
        <p:spPr>
          <a:xfrm>
            <a:off x="457200" y="475488"/>
            <a:ext cx="8229600" cy="54864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One fake dealership, same customers everywhere</a:t>
            </a:r>
            <a:endParaRPr lang="en-US" sz="2600" dirty="0"/>
          </a:p>
        </p:txBody>
      </p:sp>
      <p:sp>
        <p:nvSpPr>
          <p:cNvPr id="4" name="Intro text"/>
          <p:cNvSpPr txBox="1"/>
          <p:nvPr/>
        </p:nvSpPr>
        <p:spPr>
          <a:xfrm>
            <a:off x="457200" y="1188720"/>
            <a:ext cx="3931920" cy="914400"/>
          </a:xfrm>
          <a:prstGeom prst="rect">
            <a:avLst/>
          </a:prstGeom>
          <a:noFill/>
          <a:ln/>
        </p:spPr>
        <p:txBody>
          <a:bodyPr wrap="square" lIns="0" tIns="0" rIns="0" bIns="0" rtlCol="0" anchor="t"/>
          <a:lstStyle/>
          <a:p>
            <a:pPr marL="0" indent="0">
              <a:buNone/>
            </a:pPr>
            <a:r>
              <a:rPr lang="en-US" sz="1300" dirty="0">
                <a:solidFill>
                  <a:schemeClr val="tx1"/>
                </a:solidFill>
              </a:rPr>
              <a:t>“Dealership-test” is an invented motorcycle dealership in Caracas (brands Forza, Vento, HJM). Every account is a new test account, never a personal or school one, because the repo is public.</a:t>
            </a:r>
            <a:endParaRPr lang="en-US" sz="1300" dirty="0"/>
          </a:p>
        </p:txBody>
      </p:sp>
      <p:sp>
        <p:nvSpPr>
          <p:cNvPr id="5" name="Customers intro"/>
          <p:cNvSpPr txBox="1"/>
          <p:nvPr/>
        </p:nvSpPr>
        <p:spPr>
          <a:xfrm>
            <a:off x="457200" y="2240280"/>
            <a:ext cx="3931920" cy="502920"/>
          </a:xfrm>
          <a:prstGeom prst="rect">
            <a:avLst/>
          </a:prstGeom>
          <a:noFill/>
          <a:ln/>
        </p:spPr>
        <p:txBody>
          <a:bodyPr wrap="square" lIns="0" tIns="0" rIns="0" bIns="0" rtlCol="0" anchor="t"/>
          <a:lstStyle/>
          <a:p>
            <a:pPr marL="0" indent="0">
              <a:buNone/>
            </a:pPr>
            <a:r>
              <a:rPr lang="en-US" sz="1200" dirty="0">
                <a:solidFill>
                  <a:schemeClr val="tx2"/>
                </a:solidFill>
              </a:rPr>
              <a:t>The same 10 fake customers appear in all four services, so one search for a name finds them everywhere:</a:t>
            </a:r>
            <a:endParaRPr lang="en-US" sz="1200" dirty="0"/>
          </a:p>
        </p:txBody>
      </p:sp>
      <p:sp>
        <p:nvSpPr>
          <p:cNvPr id="6" name="name chip 0"/>
          <p:cNvSpPr/>
          <p:nvPr/>
        </p:nvSpPr>
        <p:spPr>
          <a:xfrm>
            <a:off x="457200" y="2834640"/>
            <a:ext cx="1874520" cy="292608"/>
          </a:xfrm>
          <a:prstGeom prst="roundRect">
            <a:avLst>
              <a:gd name="adj" fmla="val 50000"/>
            </a:avLst>
          </a:prstGeom>
          <a:solidFill>
            <a:srgbClr val="F3F4F8"/>
          </a:solidFill>
          <a:ln w="12700">
            <a:solidFill>
              <a:srgbClr val="F3F4F8"/>
            </a:solidFill>
            <a:prstDash val="solid"/>
          </a:ln>
        </p:spPr>
        <p:txBody>
          <a:bodyPr/>
          <a:lstStyle/>
          <a:p>
            <a:endParaRPr lang="en-US"/>
          </a:p>
        </p:txBody>
      </p:sp>
      <p:sp>
        <p:nvSpPr>
          <p:cNvPr id="7" name="name 0"/>
          <p:cNvSpPr txBox="1"/>
          <p:nvPr/>
        </p:nvSpPr>
        <p:spPr>
          <a:xfrm>
            <a:off x="457200" y="2834640"/>
            <a:ext cx="1874520" cy="292608"/>
          </a:xfrm>
          <a:prstGeom prst="rect">
            <a:avLst/>
          </a:prstGeom>
          <a:noFill/>
          <a:ln/>
        </p:spPr>
        <p:txBody>
          <a:bodyPr wrap="square" lIns="0" tIns="0" rIns="0" bIns="0" rtlCol="0" anchor="ctr"/>
          <a:lstStyle/>
          <a:p>
            <a:pPr marL="0" indent="0" algn="ctr">
              <a:buNone/>
            </a:pPr>
            <a:r>
              <a:rPr lang="en-US" sz="1100" dirty="0">
                <a:solidFill>
                  <a:schemeClr val="tx1"/>
                </a:solidFill>
              </a:rPr>
              <a:t>Carlos Test</a:t>
            </a:r>
            <a:endParaRPr lang="en-US" sz="1100" dirty="0"/>
          </a:p>
        </p:txBody>
      </p:sp>
      <p:sp>
        <p:nvSpPr>
          <p:cNvPr id="8" name="name chip 1"/>
          <p:cNvSpPr/>
          <p:nvPr/>
        </p:nvSpPr>
        <p:spPr>
          <a:xfrm>
            <a:off x="2468880" y="2834640"/>
            <a:ext cx="1874520" cy="292608"/>
          </a:xfrm>
          <a:prstGeom prst="roundRect">
            <a:avLst>
              <a:gd name="adj" fmla="val 50000"/>
            </a:avLst>
          </a:prstGeom>
          <a:solidFill>
            <a:srgbClr val="F3F4F8"/>
          </a:solidFill>
          <a:ln w="12700">
            <a:solidFill>
              <a:srgbClr val="F3F4F8"/>
            </a:solidFill>
            <a:prstDash val="solid"/>
          </a:ln>
        </p:spPr>
        <p:txBody>
          <a:bodyPr/>
          <a:lstStyle/>
          <a:p>
            <a:endParaRPr lang="en-US"/>
          </a:p>
        </p:txBody>
      </p:sp>
      <p:sp>
        <p:nvSpPr>
          <p:cNvPr id="9" name="name 1"/>
          <p:cNvSpPr txBox="1"/>
          <p:nvPr/>
        </p:nvSpPr>
        <p:spPr>
          <a:xfrm>
            <a:off x="2468880" y="2834640"/>
            <a:ext cx="1874520" cy="292608"/>
          </a:xfrm>
          <a:prstGeom prst="rect">
            <a:avLst/>
          </a:prstGeom>
          <a:noFill/>
          <a:ln/>
        </p:spPr>
        <p:txBody>
          <a:bodyPr wrap="square" lIns="0" tIns="0" rIns="0" bIns="0" rtlCol="0" anchor="ctr"/>
          <a:lstStyle/>
          <a:p>
            <a:pPr marL="0" indent="0" algn="ctr">
              <a:buNone/>
            </a:pPr>
            <a:r>
              <a:rPr lang="en-US" sz="1100" dirty="0">
                <a:solidFill>
                  <a:schemeClr val="tx1"/>
                </a:solidFill>
              </a:rPr>
              <a:t>Maria Prueba</a:t>
            </a:r>
            <a:endParaRPr lang="en-US" sz="1100" dirty="0"/>
          </a:p>
        </p:txBody>
      </p:sp>
      <p:sp>
        <p:nvSpPr>
          <p:cNvPr id="10" name="name chip 2"/>
          <p:cNvSpPr/>
          <p:nvPr/>
        </p:nvSpPr>
        <p:spPr>
          <a:xfrm>
            <a:off x="457200" y="3200400"/>
            <a:ext cx="1874520" cy="292608"/>
          </a:xfrm>
          <a:prstGeom prst="roundRect">
            <a:avLst>
              <a:gd name="adj" fmla="val 50000"/>
            </a:avLst>
          </a:prstGeom>
          <a:solidFill>
            <a:srgbClr val="F3F4F8"/>
          </a:solidFill>
          <a:ln w="12700">
            <a:solidFill>
              <a:srgbClr val="F3F4F8"/>
            </a:solidFill>
            <a:prstDash val="solid"/>
          </a:ln>
        </p:spPr>
        <p:txBody>
          <a:bodyPr/>
          <a:lstStyle/>
          <a:p>
            <a:endParaRPr lang="en-US"/>
          </a:p>
        </p:txBody>
      </p:sp>
      <p:sp>
        <p:nvSpPr>
          <p:cNvPr id="11" name="name 2"/>
          <p:cNvSpPr txBox="1"/>
          <p:nvPr/>
        </p:nvSpPr>
        <p:spPr>
          <a:xfrm>
            <a:off x="457200" y="3200400"/>
            <a:ext cx="1874520" cy="292608"/>
          </a:xfrm>
          <a:prstGeom prst="rect">
            <a:avLst/>
          </a:prstGeom>
          <a:noFill/>
          <a:ln/>
        </p:spPr>
        <p:txBody>
          <a:bodyPr wrap="square" lIns="0" tIns="0" rIns="0" bIns="0" rtlCol="0" anchor="ctr"/>
          <a:lstStyle/>
          <a:p>
            <a:pPr marL="0" indent="0" algn="ctr">
              <a:buNone/>
            </a:pPr>
            <a:r>
              <a:rPr lang="en-US" sz="1100" dirty="0">
                <a:solidFill>
                  <a:schemeClr val="tx1"/>
                </a:solidFill>
              </a:rPr>
              <a:t>Jose Ejemplo</a:t>
            </a:r>
            <a:endParaRPr lang="en-US" sz="1100" dirty="0"/>
          </a:p>
        </p:txBody>
      </p:sp>
      <p:sp>
        <p:nvSpPr>
          <p:cNvPr id="12" name="name chip 3"/>
          <p:cNvSpPr/>
          <p:nvPr/>
        </p:nvSpPr>
        <p:spPr>
          <a:xfrm>
            <a:off x="2468880" y="3200400"/>
            <a:ext cx="1874520" cy="292608"/>
          </a:xfrm>
          <a:prstGeom prst="roundRect">
            <a:avLst>
              <a:gd name="adj" fmla="val 50000"/>
            </a:avLst>
          </a:prstGeom>
          <a:solidFill>
            <a:srgbClr val="F3F4F8"/>
          </a:solidFill>
          <a:ln w="12700">
            <a:solidFill>
              <a:srgbClr val="F3F4F8"/>
            </a:solidFill>
            <a:prstDash val="solid"/>
          </a:ln>
        </p:spPr>
        <p:txBody>
          <a:bodyPr/>
          <a:lstStyle/>
          <a:p>
            <a:endParaRPr lang="en-US"/>
          </a:p>
        </p:txBody>
      </p:sp>
      <p:sp>
        <p:nvSpPr>
          <p:cNvPr id="13" name="name 3"/>
          <p:cNvSpPr txBox="1"/>
          <p:nvPr/>
        </p:nvSpPr>
        <p:spPr>
          <a:xfrm>
            <a:off x="2468880" y="3200400"/>
            <a:ext cx="1874520" cy="292608"/>
          </a:xfrm>
          <a:prstGeom prst="rect">
            <a:avLst/>
          </a:prstGeom>
          <a:noFill/>
          <a:ln/>
        </p:spPr>
        <p:txBody>
          <a:bodyPr wrap="square" lIns="0" tIns="0" rIns="0" bIns="0" rtlCol="0" anchor="ctr"/>
          <a:lstStyle/>
          <a:p>
            <a:pPr marL="0" indent="0" algn="ctr">
              <a:buNone/>
            </a:pPr>
            <a:r>
              <a:rPr lang="en-US" sz="1100" dirty="0">
                <a:solidFill>
                  <a:schemeClr val="tx1"/>
                </a:solidFill>
              </a:rPr>
              <a:t>Ana Demo</a:t>
            </a:r>
            <a:endParaRPr lang="en-US" sz="1100" dirty="0"/>
          </a:p>
        </p:txBody>
      </p:sp>
      <p:sp>
        <p:nvSpPr>
          <p:cNvPr id="14" name="name chip 4"/>
          <p:cNvSpPr/>
          <p:nvPr/>
        </p:nvSpPr>
        <p:spPr>
          <a:xfrm>
            <a:off x="457200" y="3566160"/>
            <a:ext cx="1874520" cy="292608"/>
          </a:xfrm>
          <a:prstGeom prst="roundRect">
            <a:avLst>
              <a:gd name="adj" fmla="val 50000"/>
            </a:avLst>
          </a:prstGeom>
          <a:solidFill>
            <a:srgbClr val="F3F4F8"/>
          </a:solidFill>
          <a:ln w="12700">
            <a:solidFill>
              <a:srgbClr val="F3F4F8"/>
            </a:solidFill>
            <a:prstDash val="solid"/>
          </a:ln>
        </p:spPr>
        <p:txBody>
          <a:bodyPr/>
          <a:lstStyle/>
          <a:p>
            <a:endParaRPr lang="en-US"/>
          </a:p>
        </p:txBody>
      </p:sp>
      <p:sp>
        <p:nvSpPr>
          <p:cNvPr id="15" name="name 4"/>
          <p:cNvSpPr txBox="1"/>
          <p:nvPr/>
        </p:nvSpPr>
        <p:spPr>
          <a:xfrm>
            <a:off x="457200" y="3566160"/>
            <a:ext cx="1874520" cy="292608"/>
          </a:xfrm>
          <a:prstGeom prst="rect">
            <a:avLst/>
          </a:prstGeom>
          <a:noFill/>
          <a:ln/>
        </p:spPr>
        <p:txBody>
          <a:bodyPr wrap="square" lIns="0" tIns="0" rIns="0" bIns="0" rtlCol="0" anchor="ctr"/>
          <a:lstStyle/>
          <a:p>
            <a:pPr marL="0" indent="0" algn="ctr">
              <a:buNone/>
            </a:pPr>
            <a:r>
              <a:rPr lang="en-US" sz="1100" dirty="0">
                <a:solidFill>
                  <a:schemeClr val="tx1"/>
                </a:solidFill>
              </a:rPr>
              <a:t>Luis Falso</a:t>
            </a:r>
            <a:endParaRPr lang="en-US" sz="1100" dirty="0"/>
          </a:p>
        </p:txBody>
      </p:sp>
      <p:sp>
        <p:nvSpPr>
          <p:cNvPr id="16" name="name chip 5"/>
          <p:cNvSpPr/>
          <p:nvPr/>
        </p:nvSpPr>
        <p:spPr>
          <a:xfrm>
            <a:off x="2468880" y="3566160"/>
            <a:ext cx="1874520" cy="292608"/>
          </a:xfrm>
          <a:prstGeom prst="roundRect">
            <a:avLst>
              <a:gd name="adj" fmla="val 50000"/>
            </a:avLst>
          </a:prstGeom>
          <a:solidFill>
            <a:srgbClr val="F3F4F8"/>
          </a:solidFill>
          <a:ln w="12700">
            <a:solidFill>
              <a:srgbClr val="F3F4F8"/>
            </a:solidFill>
            <a:prstDash val="solid"/>
          </a:ln>
        </p:spPr>
        <p:txBody>
          <a:bodyPr/>
          <a:lstStyle/>
          <a:p>
            <a:endParaRPr lang="en-US"/>
          </a:p>
        </p:txBody>
      </p:sp>
      <p:sp>
        <p:nvSpPr>
          <p:cNvPr id="17" name="name 5"/>
          <p:cNvSpPr txBox="1"/>
          <p:nvPr/>
        </p:nvSpPr>
        <p:spPr>
          <a:xfrm>
            <a:off x="2468880" y="3566160"/>
            <a:ext cx="1874520" cy="292608"/>
          </a:xfrm>
          <a:prstGeom prst="rect">
            <a:avLst/>
          </a:prstGeom>
          <a:noFill/>
          <a:ln/>
        </p:spPr>
        <p:txBody>
          <a:bodyPr wrap="square" lIns="0" tIns="0" rIns="0" bIns="0" rtlCol="0" anchor="ctr"/>
          <a:lstStyle/>
          <a:p>
            <a:pPr marL="0" indent="0" algn="ctr">
              <a:buNone/>
            </a:pPr>
            <a:r>
              <a:rPr lang="en-US" sz="1100" dirty="0">
                <a:solidFill>
                  <a:schemeClr val="tx1"/>
                </a:solidFill>
              </a:rPr>
              <a:t>Sofia Muestra</a:t>
            </a:r>
            <a:endParaRPr lang="en-US" sz="1100" dirty="0"/>
          </a:p>
        </p:txBody>
      </p:sp>
      <p:sp>
        <p:nvSpPr>
          <p:cNvPr id="18" name="name chip 6"/>
          <p:cNvSpPr/>
          <p:nvPr/>
        </p:nvSpPr>
        <p:spPr>
          <a:xfrm>
            <a:off x="457200" y="3931920"/>
            <a:ext cx="1874520" cy="292608"/>
          </a:xfrm>
          <a:prstGeom prst="roundRect">
            <a:avLst>
              <a:gd name="adj" fmla="val 50000"/>
            </a:avLst>
          </a:prstGeom>
          <a:solidFill>
            <a:srgbClr val="F3F4F8"/>
          </a:solidFill>
          <a:ln w="12700">
            <a:solidFill>
              <a:srgbClr val="F3F4F8"/>
            </a:solidFill>
            <a:prstDash val="solid"/>
          </a:ln>
        </p:spPr>
        <p:txBody>
          <a:bodyPr/>
          <a:lstStyle/>
          <a:p>
            <a:endParaRPr lang="en-US"/>
          </a:p>
        </p:txBody>
      </p:sp>
      <p:sp>
        <p:nvSpPr>
          <p:cNvPr id="19" name="name 6"/>
          <p:cNvSpPr txBox="1"/>
          <p:nvPr/>
        </p:nvSpPr>
        <p:spPr>
          <a:xfrm>
            <a:off x="457200" y="3931920"/>
            <a:ext cx="1874520" cy="292608"/>
          </a:xfrm>
          <a:prstGeom prst="rect">
            <a:avLst/>
          </a:prstGeom>
          <a:noFill/>
          <a:ln/>
        </p:spPr>
        <p:txBody>
          <a:bodyPr wrap="square" lIns="0" tIns="0" rIns="0" bIns="0" rtlCol="0" anchor="ctr"/>
          <a:lstStyle/>
          <a:p>
            <a:pPr marL="0" indent="0" algn="ctr">
              <a:buNone/>
            </a:pPr>
            <a:r>
              <a:rPr lang="en-US" sz="1100" dirty="0">
                <a:solidFill>
                  <a:schemeClr val="tx1"/>
                </a:solidFill>
              </a:rPr>
              <a:t>Pedro Ficticio</a:t>
            </a:r>
            <a:endParaRPr lang="en-US" sz="1100" dirty="0"/>
          </a:p>
        </p:txBody>
      </p:sp>
      <p:sp>
        <p:nvSpPr>
          <p:cNvPr id="20" name="name chip 7"/>
          <p:cNvSpPr/>
          <p:nvPr/>
        </p:nvSpPr>
        <p:spPr>
          <a:xfrm>
            <a:off x="2468880" y="3931920"/>
            <a:ext cx="1874520" cy="292608"/>
          </a:xfrm>
          <a:prstGeom prst="roundRect">
            <a:avLst>
              <a:gd name="adj" fmla="val 50000"/>
            </a:avLst>
          </a:prstGeom>
          <a:solidFill>
            <a:srgbClr val="F3F4F8"/>
          </a:solidFill>
          <a:ln w="12700">
            <a:solidFill>
              <a:srgbClr val="F3F4F8"/>
            </a:solidFill>
            <a:prstDash val="solid"/>
          </a:ln>
        </p:spPr>
        <p:txBody>
          <a:bodyPr/>
          <a:lstStyle/>
          <a:p>
            <a:endParaRPr lang="en-US"/>
          </a:p>
        </p:txBody>
      </p:sp>
      <p:sp>
        <p:nvSpPr>
          <p:cNvPr id="21" name="name 7"/>
          <p:cNvSpPr txBox="1"/>
          <p:nvPr/>
        </p:nvSpPr>
        <p:spPr>
          <a:xfrm>
            <a:off x="2468880" y="3931920"/>
            <a:ext cx="1874520" cy="292608"/>
          </a:xfrm>
          <a:prstGeom prst="rect">
            <a:avLst/>
          </a:prstGeom>
          <a:noFill/>
          <a:ln/>
        </p:spPr>
        <p:txBody>
          <a:bodyPr wrap="square" lIns="0" tIns="0" rIns="0" bIns="0" rtlCol="0" anchor="ctr"/>
          <a:lstStyle/>
          <a:p>
            <a:pPr marL="0" indent="0" algn="ctr">
              <a:buNone/>
            </a:pPr>
            <a:r>
              <a:rPr lang="en-US" sz="1100" dirty="0">
                <a:solidFill>
                  <a:schemeClr val="tx1"/>
                </a:solidFill>
              </a:rPr>
              <a:t>Laura Inventada</a:t>
            </a:r>
            <a:endParaRPr lang="en-US" sz="1100" dirty="0"/>
          </a:p>
        </p:txBody>
      </p:sp>
      <p:sp>
        <p:nvSpPr>
          <p:cNvPr id="22" name="name chip 8"/>
          <p:cNvSpPr/>
          <p:nvPr/>
        </p:nvSpPr>
        <p:spPr>
          <a:xfrm>
            <a:off x="457200" y="4297680"/>
            <a:ext cx="1874520" cy="292608"/>
          </a:xfrm>
          <a:prstGeom prst="roundRect">
            <a:avLst>
              <a:gd name="adj" fmla="val 50000"/>
            </a:avLst>
          </a:prstGeom>
          <a:solidFill>
            <a:srgbClr val="F3F4F8"/>
          </a:solidFill>
          <a:ln w="12700">
            <a:solidFill>
              <a:srgbClr val="F3F4F8"/>
            </a:solidFill>
            <a:prstDash val="solid"/>
          </a:ln>
        </p:spPr>
        <p:txBody>
          <a:bodyPr/>
          <a:lstStyle/>
          <a:p>
            <a:endParaRPr lang="en-US"/>
          </a:p>
        </p:txBody>
      </p:sp>
      <p:sp>
        <p:nvSpPr>
          <p:cNvPr id="23" name="name 8"/>
          <p:cNvSpPr txBox="1"/>
          <p:nvPr/>
        </p:nvSpPr>
        <p:spPr>
          <a:xfrm>
            <a:off x="457200" y="4297680"/>
            <a:ext cx="1874520" cy="292608"/>
          </a:xfrm>
          <a:prstGeom prst="rect">
            <a:avLst/>
          </a:prstGeom>
          <a:noFill/>
          <a:ln/>
        </p:spPr>
        <p:txBody>
          <a:bodyPr wrap="square" lIns="0" tIns="0" rIns="0" bIns="0" rtlCol="0" anchor="ctr"/>
          <a:lstStyle/>
          <a:p>
            <a:pPr marL="0" indent="0" algn="ctr">
              <a:buNone/>
            </a:pPr>
            <a:r>
              <a:rPr lang="en-US" sz="1100" dirty="0">
                <a:solidFill>
                  <a:schemeClr val="tx1"/>
                </a:solidFill>
              </a:rPr>
              <a:t>Diego Simulado</a:t>
            </a:r>
            <a:endParaRPr lang="en-US" sz="1100" dirty="0"/>
          </a:p>
        </p:txBody>
      </p:sp>
      <p:sp>
        <p:nvSpPr>
          <p:cNvPr id="24" name="name chip 9"/>
          <p:cNvSpPr/>
          <p:nvPr/>
        </p:nvSpPr>
        <p:spPr>
          <a:xfrm>
            <a:off x="2468880" y="4297680"/>
            <a:ext cx="1874520" cy="292608"/>
          </a:xfrm>
          <a:prstGeom prst="roundRect">
            <a:avLst>
              <a:gd name="adj" fmla="val 50000"/>
            </a:avLst>
          </a:prstGeom>
          <a:solidFill>
            <a:srgbClr val="F3F4F8"/>
          </a:solidFill>
          <a:ln w="12700">
            <a:solidFill>
              <a:srgbClr val="F3F4F8"/>
            </a:solidFill>
            <a:prstDash val="solid"/>
          </a:ln>
        </p:spPr>
        <p:txBody>
          <a:bodyPr/>
          <a:lstStyle/>
          <a:p>
            <a:endParaRPr lang="en-US"/>
          </a:p>
        </p:txBody>
      </p:sp>
      <p:sp>
        <p:nvSpPr>
          <p:cNvPr id="25" name="name 9"/>
          <p:cNvSpPr txBox="1"/>
          <p:nvPr/>
        </p:nvSpPr>
        <p:spPr>
          <a:xfrm>
            <a:off x="2468880" y="4297680"/>
            <a:ext cx="1874520" cy="292608"/>
          </a:xfrm>
          <a:prstGeom prst="rect">
            <a:avLst/>
          </a:prstGeom>
          <a:noFill/>
          <a:ln/>
        </p:spPr>
        <p:txBody>
          <a:bodyPr wrap="square" lIns="0" tIns="0" rIns="0" bIns="0" rtlCol="0" anchor="ctr"/>
          <a:lstStyle/>
          <a:p>
            <a:pPr marL="0" indent="0" algn="ctr">
              <a:buNone/>
            </a:pPr>
            <a:r>
              <a:rPr lang="en-US" sz="1100" dirty="0">
                <a:solidFill>
                  <a:schemeClr val="tx1"/>
                </a:solidFill>
              </a:rPr>
              <a:t>Valeria Imaginaria</a:t>
            </a:r>
            <a:endParaRPr lang="en-US" sz="1100" dirty="0"/>
          </a:p>
        </p:txBody>
      </p:sp>
      <p:sp>
        <p:nvSpPr>
          <p:cNvPr id="26" name="Gmail card"/>
          <p:cNvSpPr/>
          <p:nvPr/>
        </p:nvSpPr>
        <p:spPr>
          <a:xfrm>
            <a:off x="4754880" y="1188720"/>
            <a:ext cx="3931920" cy="731520"/>
          </a:xfrm>
          <a:prstGeom prst="roundRect">
            <a:avLst>
              <a:gd name="adj" fmla="val 10000"/>
            </a:avLst>
          </a:prstGeom>
          <a:solidFill>
            <a:srgbClr val="FFFFFF"/>
          </a:solidFill>
          <a:ln w="12700">
            <a:solidFill>
              <a:srgbClr val="E1E4EC"/>
            </a:solidFill>
            <a:prstDash val="solid"/>
          </a:ln>
          <a:effectLst>
            <a:outerShdw blurRad="101600" dist="25400" dir="5400000" algn="bl" rotWithShape="0">
              <a:srgbClr val="000000">
                <a:alpha val="14000"/>
              </a:srgbClr>
            </a:outerShdw>
          </a:effectLst>
        </p:spPr>
        <p:txBody>
          <a:bodyPr/>
          <a:lstStyle/>
          <a:p>
            <a:endParaRPr lang="en-US"/>
          </a:p>
        </p:txBody>
      </p:sp>
      <p:pic>
        <p:nvPicPr>
          <p:cNvPr id="27" name="Gmail logo" descr="preencoded.png"/>
          <p:cNvPicPr>
            <a:picLocks noChangeAspect="1"/>
          </p:cNvPicPr>
          <p:nvPr/>
        </p:nvPicPr>
        <p:blipFill>
          <a:blip r:embed="rId3"/>
          <a:stretch>
            <a:fillRect/>
          </a:stretch>
        </p:blipFill>
        <p:spPr>
          <a:xfrm>
            <a:off x="4919472" y="1371600"/>
            <a:ext cx="365760" cy="365760"/>
          </a:xfrm>
          <a:prstGeom prst="rect">
            <a:avLst/>
          </a:prstGeom>
        </p:spPr>
      </p:pic>
      <p:sp>
        <p:nvSpPr>
          <p:cNvPr id="28" name="Gmail account"/>
          <p:cNvSpPr txBox="1"/>
          <p:nvPr/>
        </p:nvSpPr>
        <p:spPr>
          <a:xfrm>
            <a:off x="5440680" y="1261872"/>
            <a:ext cx="3154680" cy="274320"/>
          </a:xfrm>
          <a:prstGeom prst="rect">
            <a:avLst/>
          </a:prstGeom>
          <a:noFill/>
          <a:ln/>
        </p:spPr>
        <p:txBody>
          <a:bodyPr wrap="square" lIns="0" tIns="0" rIns="0" bIns="0" rtlCol="0" anchor="ctr"/>
          <a:lstStyle/>
          <a:p>
            <a:pPr marL="0" indent="0">
              <a:buNone/>
            </a:pPr>
            <a:r>
              <a:rPr lang="en-US" sz="1200" b="1" dirty="0">
                <a:solidFill>
                  <a:schemeClr val="tx1"/>
                </a:solidFill>
              </a:rPr>
              <a:t>Gmail  </a:t>
            </a:r>
            <a:r>
              <a:rPr lang="en-US" sz="1000" dirty="0">
                <a:solidFill>
                  <a:schemeClr val="tx2"/>
                </a:solidFill>
              </a:rPr>
              <a:t>josephhomeworksai@gmail.com</a:t>
            </a:r>
            <a:endParaRPr lang="en-US" sz="1200" dirty="0"/>
          </a:p>
        </p:txBody>
      </p:sp>
      <p:sp>
        <p:nvSpPr>
          <p:cNvPr id="29" name="Gmail items"/>
          <p:cNvSpPr txBox="1"/>
          <p:nvPr/>
        </p:nvSpPr>
        <p:spPr>
          <a:xfrm>
            <a:off x="5440680" y="1536192"/>
            <a:ext cx="3154680" cy="329184"/>
          </a:xfrm>
          <a:prstGeom prst="rect">
            <a:avLst/>
          </a:prstGeom>
          <a:noFill/>
          <a:ln/>
        </p:spPr>
        <p:txBody>
          <a:bodyPr wrap="square" lIns="0" tIns="0" rIns="0" bIns="0" rtlCol="0" anchor="t"/>
          <a:lstStyle/>
          <a:p>
            <a:pPr marL="0" indent="0">
              <a:buNone/>
            </a:pPr>
            <a:r>
              <a:rPr lang="en-US" sz="1050" dirty="0">
                <a:solidFill>
                  <a:schemeClr val="tx2"/>
                </a:solidFill>
              </a:rPr>
              <a:t>10 customer emails: prices, financing, stock, trade-ins</a:t>
            </a:r>
            <a:endParaRPr lang="en-US" sz="1050" dirty="0"/>
          </a:p>
        </p:txBody>
      </p:sp>
      <p:sp>
        <p:nvSpPr>
          <p:cNvPr id="30" name="GitHub card"/>
          <p:cNvSpPr/>
          <p:nvPr/>
        </p:nvSpPr>
        <p:spPr>
          <a:xfrm>
            <a:off x="4754880" y="2057400"/>
            <a:ext cx="3931920" cy="731520"/>
          </a:xfrm>
          <a:prstGeom prst="roundRect">
            <a:avLst>
              <a:gd name="adj" fmla="val 10000"/>
            </a:avLst>
          </a:prstGeom>
          <a:solidFill>
            <a:srgbClr val="FFFFFF"/>
          </a:solidFill>
          <a:ln w="12700">
            <a:solidFill>
              <a:srgbClr val="E1E4EC"/>
            </a:solidFill>
            <a:prstDash val="solid"/>
          </a:ln>
          <a:effectLst>
            <a:outerShdw blurRad="101600" dist="25400" dir="5400000" algn="bl" rotWithShape="0">
              <a:srgbClr val="000000">
                <a:alpha val="14000"/>
              </a:srgbClr>
            </a:outerShdw>
          </a:effectLst>
        </p:spPr>
        <p:txBody>
          <a:bodyPr/>
          <a:lstStyle/>
          <a:p>
            <a:endParaRPr lang="en-US"/>
          </a:p>
        </p:txBody>
      </p:sp>
      <p:pic>
        <p:nvPicPr>
          <p:cNvPr id="31" name="GitHub logo" descr="preencoded.png"/>
          <p:cNvPicPr>
            <a:picLocks noChangeAspect="1"/>
          </p:cNvPicPr>
          <p:nvPr/>
        </p:nvPicPr>
        <p:blipFill>
          <a:blip r:embed="rId4"/>
          <a:stretch>
            <a:fillRect/>
          </a:stretch>
        </p:blipFill>
        <p:spPr>
          <a:xfrm>
            <a:off x="4919472" y="2240280"/>
            <a:ext cx="365760" cy="365760"/>
          </a:xfrm>
          <a:prstGeom prst="rect">
            <a:avLst/>
          </a:prstGeom>
        </p:spPr>
      </p:pic>
      <p:sp>
        <p:nvSpPr>
          <p:cNvPr id="32" name="GitHub account"/>
          <p:cNvSpPr txBox="1"/>
          <p:nvPr/>
        </p:nvSpPr>
        <p:spPr>
          <a:xfrm>
            <a:off x="5440680" y="2130552"/>
            <a:ext cx="3154680" cy="274320"/>
          </a:xfrm>
          <a:prstGeom prst="rect">
            <a:avLst/>
          </a:prstGeom>
          <a:noFill/>
          <a:ln/>
        </p:spPr>
        <p:txBody>
          <a:bodyPr wrap="square" lIns="0" tIns="0" rIns="0" bIns="0" rtlCol="0" anchor="ctr"/>
          <a:lstStyle/>
          <a:p>
            <a:pPr marL="0" indent="0">
              <a:buNone/>
            </a:pPr>
            <a:r>
              <a:rPr lang="en-US" sz="1200" b="1" dirty="0">
                <a:solidFill>
                  <a:schemeClr val="tx1"/>
                </a:solidFill>
              </a:rPr>
              <a:t>GitHub  </a:t>
            </a:r>
            <a:r>
              <a:rPr lang="en-US" sz="1000" dirty="0">
                <a:solidFill>
                  <a:schemeClr val="tx2"/>
                </a:solidFill>
              </a:rPr>
              <a:t>josephhomeworksai-hash</a:t>
            </a:r>
            <a:endParaRPr lang="en-US" sz="1200" dirty="0"/>
          </a:p>
        </p:txBody>
      </p:sp>
      <p:sp>
        <p:nvSpPr>
          <p:cNvPr id="33" name="GitHub items"/>
          <p:cNvSpPr txBox="1"/>
          <p:nvPr/>
        </p:nvSpPr>
        <p:spPr>
          <a:xfrm>
            <a:off x="5440680" y="2404872"/>
            <a:ext cx="3154680" cy="329184"/>
          </a:xfrm>
          <a:prstGeom prst="rect">
            <a:avLst/>
          </a:prstGeom>
          <a:noFill/>
          <a:ln/>
        </p:spPr>
        <p:txBody>
          <a:bodyPr wrap="square" lIns="0" tIns="0" rIns="0" bIns="0" rtlCol="0" anchor="t"/>
          <a:lstStyle/>
          <a:p>
            <a:pPr marL="0" indent="0">
              <a:buNone/>
            </a:pPr>
            <a:r>
              <a:rPr lang="en-US" sz="1050" dirty="0">
                <a:solidFill>
                  <a:schemeClr val="tx2"/>
                </a:solidFill>
              </a:rPr>
              <a:t>10 issues in repo dealership-test-tasks (daily to-dos)</a:t>
            </a:r>
            <a:endParaRPr lang="en-US" sz="1050" dirty="0"/>
          </a:p>
        </p:txBody>
      </p:sp>
      <p:sp>
        <p:nvSpPr>
          <p:cNvPr id="34" name="Notion card"/>
          <p:cNvSpPr/>
          <p:nvPr/>
        </p:nvSpPr>
        <p:spPr>
          <a:xfrm>
            <a:off x="4754880" y="2926080"/>
            <a:ext cx="3931920" cy="731520"/>
          </a:xfrm>
          <a:prstGeom prst="roundRect">
            <a:avLst>
              <a:gd name="adj" fmla="val 10000"/>
            </a:avLst>
          </a:prstGeom>
          <a:solidFill>
            <a:srgbClr val="FFFFFF"/>
          </a:solidFill>
          <a:ln w="12700">
            <a:solidFill>
              <a:srgbClr val="E1E4EC"/>
            </a:solidFill>
            <a:prstDash val="solid"/>
          </a:ln>
          <a:effectLst>
            <a:outerShdw blurRad="101600" dist="25400" dir="5400000" algn="bl" rotWithShape="0">
              <a:srgbClr val="000000">
                <a:alpha val="14000"/>
              </a:srgbClr>
            </a:outerShdw>
          </a:effectLst>
        </p:spPr>
        <p:txBody>
          <a:bodyPr/>
          <a:lstStyle/>
          <a:p>
            <a:endParaRPr lang="en-US"/>
          </a:p>
        </p:txBody>
      </p:sp>
      <p:pic>
        <p:nvPicPr>
          <p:cNvPr id="35" name="Notion logo" descr="preencoded.png"/>
          <p:cNvPicPr>
            <a:picLocks noChangeAspect="1"/>
          </p:cNvPicPr>
          <p:nvPr/>
        </p:nvPicPr>
        <p:blipFill>
          <a:blip r:embed="rId5"/>
          <a:stretch>
            <a:fillRect/>
          </a:stretch>
        </p:blipFill>
        <p:spPr>
          <a:xfrm>
            <a:off x="4919472" y="3108960"/>
            <a:ext cx="365760" cy="365760"/>
          </a:xfrm>
          <a:prstGeom prst="rect">
            <a:avLst/>
          </a:prstGeom>
        </p:spPr>
      </p:pic>
      <p:sp>
        <p:nvSpPr>
          <p:cNvPr id="36" name="Notion account"/>
          <p:cNvSpPr txBox="1"/>
          <p:nvPr/>
        </p:nvSpPr>
        <p:spPr>
          <a:xfrm>
            <a:off x="5440680" y="2999232"/>
            <a:ext cx="3154680" cy="274320"/>
          </a:xfrm>
          <a:prstGeom prst="rect">
            <a:avLst/>
          </a:prstGeom>
          <a:noFill/>
          <a:ln/>
        </p:spPr>
        <p:txBody>
          <a:bodyPr wrap="square" lIns="0" tIns="0" rIns="0" bIns="0" rtlCol="0" anchor="ctr"/>
          <a:lstStyle/>
          <a:p>
            <a:pPr marL="0" indent="0">
              <a:buNone/>
            </a:pPr>
            <a:r>
              <a:rPr lang="en-US" sz="1200" b="1" dirty="0">
                <a:solidFill>
                  <a:schemeClr val="tx1"/>
                </a:solidFill>
              </a:rPr>
              <a:t>Notion  </a:t>
            </a:r>
            <a:r>
              <a:rPr lang="en-US" sz="1000" dirty="0">
                <a:solidFill>
                  <a:schemeClr val="tx2"/>
                </a:solidFill>
              </a:rPr>
              <a:t>Notion test workspace</a:t>
            </a:r>
            <a:endParaRPr lang="en-US" sz="1200" dirty="0"/>
          </a:p>
        </p:txBody>
      </p:sp>
      <p:sp>
        <p:nvSpPr>
          <p:cNvPr id="37" name="Notion items"/>
          <p:cNvSpPr txBox="1"/>
          <p:nvPr/>
        </p:nvSpPr>
        <p:spPr>
          <a:xfrm>
            <a:off x="5440680" y="3273552"/>
            <a:ext cx="3154680" cy="329184"/>
          </a:xfrm>
          <a:prstGeom prst="rect">
            <a:avLst/>
          </a:prstGeom>
          <a:noFill/>
          <a:ln/>
        </p:spPr>
        <p:txBody>
          <a:bodyPr wrap="square" lIns="0" tIns="0" rIns="0" bIns="0" rtlCol="0" anchor="t"/>
          <a:lstStyle/>
          <a:p>
            <a:pPr marL="0" indent="0">
              <a:buNone/>
            </a:pPr>
            <a:r>
              <a:rPr lang="en-US" sz="1050" dirty="0">
                <a:solidFill>
                  <a:schemeClr val="tx2"/>
                </a:solidFill>
              </a:rPr>
              <a:t>10 lead follow-up pages in the “Dealership Test” database</a:t>
            </a:r>
            <a:endParaRPr lang="en-US" sz="1050" dirty="0"/>
          </a:p>
        </p:txBody>
      </p:sp>
      <p:sp>
        <p:nvSpPr>
          <p:cNvPr id="38" name="Supabase card"/>
          <p:cNvSpPr/>
          <p:nvPr/>
        </p:nvSpPr>
        <p:spPr>
          <a:xfrm>
            <a:off x="4754880" y="3794760"/>
            <a:ext cx="3931920" cy="731520"/>
          </a:xfrm>
          <a:prstGeom prst="roundRect">
            <a:avLst>
              <a:gd name="adj" fmla="val 10000"/>
            </a:avLst>
          </a:prstGeom>
          <a:solidFill>
            <a:srgbClr val="FFFFFF"/>
          </a:solidFill>
          <a:ln w="12700">
            <a:solidFill>
              <a:srgbClr val="E1E4EC"/>
            </a:solidFill>
            <a:prstDash val="solid"/>
          </a:ln>
          <a:effectLst>
            <a:outerShdw blurRad="101600" dist="25400" dir="5400000" algn="bl" rotWithShape="0">
              <a:srgbClr val="000000">
                <a:alpha val="14000"/>
              </a:srgbClr>
            </a:outerShdw>
          </a:effectLst>
        </p:spPr>
        <p:txBody>
          <a:bodyPr/>
          <a:lstStyle/>
          <a:p>
            <a:endParaRPr lang="en-US"/>
          </a:p>
        </p:txBody>
      </p:sp>
      <p:pic>
        <p:nvPicPr>
          <p:cNvPr id="39" name="Supabase logo" descr="preencoded.png"/>
          <p:cNvPicPr>
            <a:picLocks noChangeAspect="1"/>
          </p:cNvPicPr>
          <p:nvPr/>
        </p:nvPicPr>
        <p:blipFill>
          <a:blip r:embed="rId6"/>
          <a:stretch>
            <a:fillRect/>
          </a:stretch>
        </p:blipFill>
        <p:spPr>
          <a:xfrm>
            <a:off x="4919472" y="3977640"/>
            <a:ext cx="365760" cy="365760"/>
          </a:xfrm>
          <a:prstGeom prst="rect">
            <a:avLst/>
          </a:prstGeom>
        </p:spPr>
      </p:pic>
      <p:sp>
        <p:nvSpPr>
          <p:cNvPr id="40" name="Supabase account"/>
          <p:cNvSpPr txBox="1"/>
          <p:nvPr/>
        </p:nvSpPr>
        <p:spPr>
          <a:xfrm>
            <a:off x="5440680" y="3867912"/>
            <a:ext cx="3154680" cy="274320"/>
          </a:xfrm>
          <a:prstGeom prst="rect">
            <a:avLst/>
          </a:prstGeom>
          <a:noFill/>
          <a:ln/>
        </p:spPr>
        <p:txBody>
          <a:bodyPr wrap="square" lIns="0" tIns="0" rIns="0" bIns="0" rtlCol="0" anchor="ctr"/>
          <a:lstStyle/>
          <a:p>
            <a:pPr marL="0" indent="0">
              <a:buNone/>
            </a:pPr>
            <a:r>
              <a:rPr lang="en-US" sz="1200" b="1" dirty="0">
                <a:solidFill>
                  <a:schemeClr val="tx1"/>
                </a:solidFill>
              </a:rPr>
              <a:t>Supabase  </a:t>
            </a:r>
            <a:r>
              <a:rPr lang="en-US" sz="1000" dirty="0">
                <a:solidFill>
                  <a:schemeClr val="tx2"/>
                </a:solidFill>
              </a:rPr>
              <a:t>Project “Dealership-test”</a:t>
            </a:r>
            <a:endParaRPr lang="en-US" sz="1200" dirty="0"/>
          </a:p>
        </p:txBody>
      </p:sp>
      <p:sp>
        <p:nvSpPr>
          <p:cNvPr id="41" name="Supabase items"/>
          <p:cNvSpPr txBox="1"/>
          <p:nvPr/>
        </p:nvSpPr>
        <p:spPr>
          <a:xfrm>
            <a:off x="5440680" y="4142232"/>
            <a:ext cx="3154680" cy="329184"/>
          </a:xfrm>
          <a:prstGeom prst="rect">
            <a:avLst/>
          </a:prstGeom>
          <a:noFill/>
          <a:ln/>
        </p:spPr>
        <p:txBody>
          <a:bodyPr wrap="square" lIns="0" tIns="0" rIns="0" bIns="0" rtlCol="0" anchor="t"/>
          <a:lstStyle/>
          <a:p>
            <a:pPr marL="0" indent="0">
              <a:buNone/>
            </a:pPr>
            <a:r>
              <a:rPr lang="en-US" sz="1050" dirty="0">
                <a:solidFill>
                  <a:schemeClr val="tx2"/>
                </a:solidFill>
              </a:rPr>
              <a:t>10 rows in table clients_sales (client + motorcycle)</a:t>
            </a:r>
            <a:endParaRPr lang="en-US" sz="1050" dirty="0"/>
          </a:p>
        </p:txBody>
      </p:sp>
      <p:sp>
        <p:nvSpPr>
          <p:cNvPr id="42" name="Slide Number Placeholder 0"/>
          <p:cNvSpPr>
            <a:spLocks noGrp="1"/>
          </p:cNvSpPr>
          <p:nvPr>
            <p:ph type="sldNum" sz="quarter" idx="4294967295"/>
          </p:nvPr>
        </p:nvSpPr>
        <p:spPr>
          <a:xfrm>
            <a:off x="8321040" y="4828032"/>
            <a:ext cx="36576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100" dirty="0">
                <a:solidFill>
                  <a:schemeClr val="accent1"/>
                </a:solidFill>
              </a:rPr>
              <a:t>MCP SERVERS</a:t>
            </a:r>
            <a:endParaRPr lang="en-US" sz="1100" dirty="0"/>
          </a:p>
        </p:txBody>
      </p:sp>
      <p:sp>
        <p:nvSpPr>
          <p:cNvPr id="3" name="Text 0"/>
          <p:cNvSpPr>
            <a:spLocks noGrp="1"/>
          </p:cNvSpPr>
          <p:nvPr>
            <p:ph type="title" idx="101" hasCustomPrompt="1"/>
          </p:nvPr>
        </p:nvSpPr>
        <p:spPr>
          <a:xfrm>
            <a:off x="457200" y="475488"/>
            <a:ext cx="8229600" cy="54864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Claude Code connected to all four services</a:t>
            </a:r>
            <a:endParaRPr lang="en-US" sz="2600" dirty="0"/>
          </a:p>
        </p:txBody>
      </p:sp>
      <p:sp>
        <p:nvSpPr>
          <p:cNvPr id="4" name="MCP screenshot frame"/>
          <p:cNvSpPr/>
          <p:nvPr/>
        </p:nvSpPr>
        <p:spPr>
          <a:xfrm>
            <a:off x="420624" y="1197864"/>
            <a:ext cx="4279392" cy="916900"/>
          </a:xfrm>
          <a:prstGeom prst="roundRect">
            <a:avLst>
              <a:gd name="adj" fmla="val 7978"/>
            </a:avLst>
          </a:prstGeom>
          <a:solidFill>
            <a:srgbClr val="FFFFFF"/>
          </a:solidFill>
          <a:ln w="9525">
            <a:solidFill>
              <a:srgbClr val="D9DCE5"/>
            </a:solidFill>
            <a:prstDash val="solid"/>
          </a:ln>
          <a:effectLst>
            <a:outerShdw blurRad="101600" dist="25400" dir="5400000" algn="bl" rotWithShape="0">
              <a:srgbClr val="000000">
                <a:alpha val="14000"/>
              </a:srgbClr>
            </a:outerShdw>
          </a:effectLst>
        </p:spPr>
        <p:txBody>
          <a:bodyPr/>
          <a:lstStyle/>
          <a:p>
            <a:endParaRPr lang="en-US"/>
          </a:p>
        </p:txBody>
      </p:sp>
      <p:pic>
        <p:nvPicPr>
          <p:cNvPr id="5" name="MCP screenshot" descr="Claude Code /mcp: github, gmail, notion and supabase all connected"/>
          <p:cNvPicPr>
            <a:picLocks noChangeAspect="1"/>
          </p:cNvPicPr>
          <p:nvPr/>
        </p:nvPicPr>
        <p:blipFill>
          <a:blip r:embed="rId3"/>
          <a:stretch>
            <a:fillRect/>
          </a:stretch>
        </p:blipFill>
        <p:spPr>
          <a:xfrm>
            <a:off x="457200" y="1234440"/>
            <a:ext cx="4206240" cy="843748"/>
          </a:xfrm>
          <a:prstGeom prst="rect">
            <a:avLst/>
          </a:prstGeom>
        </p:spPr>
      </p:pic>
      <p:sp>
        <p:nvSpPr>
          <p:cNvPr id="6" name="MCP caption"/>
          <p:cNvSpPr txBox="1"/>
          <p:nvPr/>
        </p:nvSpPr>
        <p:spPr>
          <a:xfrm>
            <a:off x="457200" y="2194560"/>
            <a:ext cx="4206240" cy="274320"/>
          </a:xfrm>
          <a:prstGeom prst="rect">
            <a:avLst/>
          </a:prstGeom>
          <a:noFill/>
          <a:ln/>
        </p:spPr>
        <p:txBody>
          <a:bodyPr wrap="square" lIns="0" tIns="0" rIns="0" bIns="0" rtlCol="0" anchor="ctr"/>
          <a:lstStyle/>
          <a:p>
            <a:pPr marL="0" indent="0">
              <a:buNone/>
            </a:pPr>
            <a:r>
              <a:rPr lang="en-US" sz="1000" i="1" dirty="0">
                <a:solidFill>
                  <a:schemeClr val="tx2"/>
                </a:solidFill>
              </a:rPr>
              <a:t>Claude Code /mcp: all four project servers show connected (from .mcp.json)</a:t>
            </a:r>
            <a:endParaRPr lang="en-US" sz="1000" dirty="0"/>
          </a:p>
        </p:txBody>
      </p:sp>
      <p:sp>
        <p:nvSpPr>
          <p:cNvPr id="7" name="mcp json panel"/>
          <p:cNvSpPr/>
          <p:nvPr/>
        </p:nvSpPr>
        <p:spPr>
          <a:xfrm>
            <a:off x="457200" y="2651760"/>
            <a:ext cx="4206240" cy="1600200"/>
          </a:xfrm>
          <a:prstGeom prst="roundRect">
            <a:avLst>
              <a:gd name="adj" fmla="val 4571"/>
            </a:avLst>
          </a:prstGeom>
          <a:solidFill>
            <a:srgbClr val="0E1430"/>
          </a:solidFill>
          <a:ln w="12700">
            <a:solidFill>
              <a:srgbClr val="0E1430"/>
            </a:solidFill>
            <a:prstDash val="solid"/>
          </a:ln>
          <a:effectLst>
            <a:outerShdw blurRad="101600" dist="25400" dir="5400000" algn="bl" rotWithShape="0">
              <a:srgbClr val="000000">
                <a:alpha val="14000"/>
              </a:srgbClr>
            </a:outerShdw>
          </a:effectLst>
        </p:spPr>
        <p:txBody>
          <a:bodyPr/>
          <a:lstStyle/>
          <a:p>
            <a:endParaRPr lang="en-US"/>
          </a:p>
        </p:txBody>
      </p:sp>
      <p:sp>
        <p:nvSpPr>
          <p:cNvPr id="8" name="mcp json label"/>
          <p:cNvSpPr txBox="1"/>
          <p:nvPr/>
        </p:nvSpPr>
        <p:spPr>
          <a:xfrm>
            <a:off x="621792" y="2743200"/>
            <a:ext cx="3877056" cy="228600"/>
          </a:xfrm>
          <a:prstGeom prst="rect">
            <a:avLst/>
          </a:prstGeom>
          <a:noFill/>
          <a:ln/>
        </p:spPr>
        <p:txBody>
          <a:bodyPr wrap="square" lIns="0" tIns="0" rIns="0" bIns="0" rtlCol="0" anchor="ctr"/>
          <a:lstStyle/>
          <a:p>
            <a:pPr marL="0" indent="0">
              <a:buNone/>
            </a:pPr>
            <a:r>
              <a:rPr lang="en-US" sz="900" b="1" dirty="0">
                <a:solidFill>
                  <a:srgbClr val="9AA3C2"/>
                </a:solidFill>
                <a:latin typeface="Courier New" pitchFamily="34" charset="0"/>
                <a:ea typeface="Courier New" pitchFamily="34" charset="-122"/>
                <a:cs typeface="Courier New" pitchFamily="34" charset="-120"/>
              </a:rPr>
              <a:t>.mcp.json (excerpt, no secrets)</a:t>
            </a:r>
            <a:endParaRPr lang="en-US" sz="900" dirty="0"/>
          </a:p>
        </p:txBody>
      </p:sp>
      <p:sp>
        <p:nvSpPr>
          <p:cNvPr id="9" name="mcp json code"/>
          <p:cNvSpPr txBox="1"/>
          <p:nvPr/>
        </p:nvSpPr>
        <p:spPr>
          <a:xfrm>
            <a:off x="621792" y="2999232"/>
            <a:ext cx="3877056" cy="1161288"/>
          </a:xfrm>
          <a:prstGeom prst="rect">
            <a:avLst/>
          </a:prstGeom>
          <a:noFill/>
          <a:ln/>
        </p:spPr>
        <p:txBody>
          <a:bodyPr wrap="square" lIns="0" tIns="0" rIns="0" bIns="0" rtlCol="0" anchor="t"/>
          <a:lstStyle/>
          <a:p>
            <a:pPr marL="0" indent="0">
              <a:buNone/>
            </a:pPr>
            <a:r>
              <a:rPr lang="en-US" sz="850" dirty="0">
                <a:solidFill>
                  <a:srgbClr val="E6E9F5"/>
                </a:solidFill>
                <a:latin typeface="Courier New" pitchFamily="34" charset="0"/>
                <a:ea typeface="Courier New" pitchFamily="34" charset="-122"/>
                <a:cs typeface="Courier New" pitchFamily="34" charset="-120"/>
              </a:rPr>
              <a:t>"github": api.githubcopilot.com/mcp/</a:t>
            </a:r>
            <a:endParaRPr lang="en-US" sz="850" dirty="0"/>
          </a:p>
          <a:p>
            <a:pPr marL="0" indent="0">
              <a:buNone/>
            </a:pPr>
            <a:r>
              <a:rPr lang="en-US" sz="850" dirty="0">
                <a:solidFill>
                  <a:srgbClr val="E6E9F5"/>
                </a:solidFill>
                <a:latin typeface="Courier New" pitchFamily="34" charset="0"/>
                <a:ea typeface="Courier New" pitchFamily="34" charset="-122"/>
                <a:cs typeface="Courier New" pitchFamily="34" charset="-120"/>
              </a:rPr>
              <a:t>  Bearer ${GITHUB_PERSONAL_ACCESS_TOKEN}</a:t>
            </a:r>
            <a:endParaRPr lang="en-US" sz="850" dirty="0"/>
          </a:p>
          <a:p>
            <a:pPr marL="0" indent="0">
              <a:buNone/>
            </a:pPr>
            <a:r>
              <a:rPr lang="en-US" sz="850" dirty="0">
                <a:solidFill>
                  <a:srgbClr val="E6E9F5"/>
                </a:solidFill>
                <a:latin typeface="Courier New" pitchFamily="34" charset="0"/>
                <a:ea typeface="Courier New" pitchFamily="34" charset="-122"/>
                <a:cs typeface="Courier New" pitchFamily="34" charset="-120"/>
              </a:rPr>
              <a:t>"notion": mcp.notion.com/mcp</a:t>
            </a:r>
            <a:endParaRPr lang="en-US" sz="850" dirty="0"/>
          </a:p>
          <a:p>
            <a:pPr marL="0" indent="0">
              <a:buNone/>
            </a:pPr>
            <a:r>
              <a:rPr lang="en-US" sz="850" dirty="0">
                <a:solidFill>
                  <a:srgbClr val="E6E9F5"/>
                </a:solidFill>
                <a:latin typeface="Courier New" pitchFamily="34" charset="0"/>
                <a:ea typeface="Courier New" pitchFamily="34" charset="-122"/>
                <a:cs typeface="Courier New" pitchFamily="34" charset="-120"/>
              </a:rPr>
              <a:t>"supabase": mcp.supabase.com/mcp</a:t>
            </a:r>
            <a:endParaRPr lang="en-US" sz="850" dirty="0"/>
          </a:p>
          <a:p>
            <a:pPr marL="0" indent="0">
              <a:buNone/>
            </a:pPr>
            <a:r>
              <a:rPr lang="en-US" sz="850" dirty="0">
                <a:solidFill>
                  <a:srgbClr val="E6E9F5"/>
                </a:solidFill>
                <a:latin typeface="Courier New" pitchFamily="34" charset="0"/>
                <a:ea typeface="Courier New" pitchFamily="34" charset="-122"/>
                <a:cs typeface="Courier New" pitchFamily="34" charset="-120"/>
              </a:rPr>
              <a:t>  ?project_ref=...&amp;read_only=true</a:t>
            </a:r>
            <a:endParaRPr lang="en-US" sz="850" dirty="0"/>
          </a:p>
          <a:p>
            <a:pPr marL="0" indent="0">
              <a:buNone/>
            </a:pPr>
            <a:r>
              <a:rPr lang="en-US" sz="850" dirty="0">
                <a:solidFill>
                  <a:srgbClr val="E6E9F5"/>
                </a:solidFill>
                <a:latin typeface="Courier New" pitchFamily="34" charset="0"/>
                <a:ea typeface="Courier New" pitchFamily="34" charset="-122"/>
                <a:cs typeface="Courier New" pitchFamily="34" charset="-120"/>
              </a:rPr>
              <a:t>"gmail": claude.ai Gmail connector</a:t>
            </a:r>
            <a:endParaRPr lang="en-US" sz="850" dirty="0"/>
          </a:p>
          <a:p>
            <a:pPr marL="0" indent="0">
              <a:buNone/>
            </a:pPr>
            <a:r>
              <a:rPr lang="en-US" sz="850" dirty="0">
                <a:solidFill>
                  <a:srgbClr val="E6E9F5"/>
                </a:solidFill>
                <a:latin typeface="Courier New" pitchFamily="34" charset="0"/>
                <a:ea typeface="Courier New" pitchFamily="34" charset="-122"/>
                <a:cs typeface="Courier New" pitchFamily="34" charset="-120"/>
              </a:rPr>
              <a:t>  (account-level, not in .mcp.json)</a:t>
            </a:r>
            <a:endParaRPr lang="en-US" sz="850" dirty="0"/>
          </a:p>
        </p:txBody>
      </p:sp>
      <p:sp>
        <p:nvSpPr>
          <p:cNvPr id="10" name="GitHub auth card"/>
          <p:cNvSpPr/>
          <p:nvPr/>
        </p:nvSpPr>
        <p:spPr>
          <a:xfrm>
            <a:off x="4983480" y="1234440"/>
            <a:ext cx="3703320" cy="713232"/>
          </a:xfrm>
          <a:prstGeom prst="roundRect">
            <a:avLst>
              <a:gd name="adj" fmla="val 10256"/>
            </a:avLst>
          </a:prstGeom>
          <a:solidFill>
            <a:srgbClr val="F3F4F8"/>
          </a:solidFill>
          <a:ln w="12700">
            <a:solidFill>
              <a:srgbClr val="F3F4F8"/>
            </a:solidFill>
            <a:prstDash val="solid"/>
          </a:ln>
        </p:spPr>
        <p:txBody>
          <a:bodyPr/>
          <a:lstStyle/>
          <a:p>
            <a:endParaRPr lang="en-US"/>
          </a:p>
        </p:txBody>
      </p:sp>
      <p:pic>
        <p:nvPicPr>
          <p:cNvPr id="11" name="GitHub auth logo" descr="preencoded.png"/>
          <p:cNvPicPr>
            <a:picLocks noChangeAspect="1"/>
          </p:cNvPicPr>
          <p:nvPr/>
        </p:nvPicPr>
        <p:blipFill>
          <a:blip r:embed="rId4"/>
          <a:stretch>
            <a:fillRect/>
          </a:stretch>
        </p:blipFill>
        <p:spPr>
          <a:xfrm>
            <a:off x="5120640" y="1408176"/>
            <a:ext cx="365760" cy="365760"/>
          </a:xfrm>
          <a:prstGeom prst="rect">
            <a:avLst/>
          </a:prstGeom>
        </p:spPr>
      </p:pic>
      <p:sp>
        <p:nvSpPr>
          <p:cNvPr id="12" name="GitHub auth text"/>
          <p:cNvSpPr txBox="1"/>
          <p:nvPr/>
        </p:nvSpPr>
        <p:spPr>
          <a:xfrm>
            <a:off x="5623560" y="1307592"/>
            <a:ext cx="2103120" cy="566928"/>
          </a:xfrm>
          <a:prstGeom prst="rect">
            <a:avLst/>
          </a:prstGeom>
          <a:noFill/>
          <a:ln/>
        </p:spPr>
        <p:txBody>
          <a:bodyPr wrap="square" lIns="0" tIns="0" rIns="0" bIns="0" rtlCol="0" anchor="ctr"/>
          <a:lstStyle/>
          <a:p>
            <a:pPr marL="0" indent="0">
              <a:buNone/>
            </a:pPr>
            <a:r>
              <a:rPr lang="en-US" sz="1200" b="1" dirty="0">
                <a:solidFill>
                  <a:schemeClr val="tx1"/>
                </a:solidFill>
              </a:rPr>
              <a:t>Official GitHub server</a:t>
            </a:r>
            <a:endParaRPr lang="en-US" sz="1200" dirty="0"/>
          </a:p>
          <a:p>
            <a:pPr marL="0" indent="0">
              <a:buNone/>
            </a:pPr>
            <a:r>
              <a:rPr lang="en-US" sz="1050" dirty="0">
                <a:solidFill>
                  <a:schemeClr val="tx2"/>
                </a:solidFill>
              </a:rPr>
              <a:t>Personal access token (env variable)</a:t>
            </a:r>
            <a:endParaRPr lang="en-US" sz="1200" dirty="0"/>
          </a:p>
        </p:txBody>
      </p:sp>
      <p:sp>
        <p:nvSpPr>
          <p:cNvPr id="13" name="GitHub type pill"/>
          <p:cNvSpPr/>
          <p:nvPr/>
        </p:nvSpPr>
        <p:spPr>
          <a:xfrm>
            <a:off x="7772400" y="1463040"/>
            <a:ext cx="804672" cy="256032"/>
          </a:xfrm>
          <a:prstGeom prst="roundRect">
            <a:avLst>
              <a:gd name="adj" fmla="val 50000"/>
            </a:avLst>
          </a:prstGeom>
          <a:solidFill>
            <a:srgbClr val="2E9E6B"/>
          </a:solidFill>
          <a:ln w="12700">
            <a:solidFill>
              <a:srgbClr val="2E9E6B"/>
            </a:solidFill>
            <a:prstDash val="solid"/>
          </a:ln>
        </p:spPr>
        <p:txBody>
          <a:bodyPr/>
          <a:lstStyle/>
          <a:p>
            <a:endParaRPr lang="en-US"/>
          </a:p>
        </p:txBody>
      </p:sp>
      <p:sp>
        <p:nvSpPr>
          <p:cNvPr id="14" name="GitHub type"/>
          <p:cNvSpPr txBox="1"/>
          <p:nvPr/>
        </p:nvSpPr>
        <p:spPr>
          <a:xfrm>
            <a:off x="7772400" y="1463040"/>
            <a:ext cx="804672" cy="256032"/>
          </a:xfrm>
          <a:prstGeom prst="rect">
            <a:avLst/>
          </a:prstGeom>
          <a:noFill/>
          <a:ln/>
        </p:spPr>
        <p:txBody>
          <a:bodyPr wrap="square" lIns="0" tIns="0" rIns="0" bIns="0" rtlCol="0" anchor="ctr"/>
          <a:lstStyle/>
          <a:p>
            <a:pPr marL="0" indent="0" algn="ctr">
              <a:buNone/>
            </a:pPr>
            <a:r>
              <a:rPr lang="en-US" sz="900" b="1" dirty="0">
                <a:solidFill>
                  <a:srgbClr val="FFFFFF"/>
                </a:solidFill>
              </a:rPr>
              <a:t>Official</a:t>
            </a:r>
            <a:endParaRPr lang="en-US" sz="900" dirty="0"/>
          </a:p>
        </p:txBody>
      </p:sp>
      <p:sp>
        <p:nvSpPr>
          <p:cNvPr id="15" name="Notion auth card"/>
          <p:cNvSpPr/>
          <p:nvPr/>
        </p:nvSpPr>
        <p:spPr>
          <a:xfrm>
            <a:off x="4983480" y="2084832"/>
            <a:ext cx="3703320" cy="713232"/>
          </a:xfrm>
          <a:prstGeom prst="roundRect">
            <a:avLst>
              <a:gd name="adj" fmla="val 10256"/>
            </a:avLst>
          </a:prstGeom>
          <a:solidFill>
            <a:srgbClr val="F3F4F8"/>
          </a:solidFill>
          <a:ln w="12700">
            <a:solidFill>
              <a:srgbClr val="F3F4F8"/>
            </a:solidFill>
            <a:prstDash val="solid"/>
          </a:ln>
        </p:spPr>
        <p:txBody>
          <a:bodyPr/>
          <a:lstStyle/>
          <a:p>
            <a:endParaRPr lang="en-US"/>
          </a:p>
        </p:txBody>
      </p:sp>
      <p:pic>
        <p:nvPicPr>
          <p:cNvPr id="16" name="Notion auth logo" descr="preencoded.png"/>
          <p:cNvPicPr>
            <a:picLocks noChangeAspect="1"/>
          </p:cNvPicPr>
          <p:nvPr/>
        </p:nvPicPr>
        <p:blipFill>
          <a:blip r:embed="rId5"/>
          <a:stretch>
            <a:fillRect/>
          </a:stretch>
        </p:blipFill>
        <p:spPr>
          <a:xfrm>
            <a:off x="5120640" y="2258568"/>
            <a:ext cx="365760" cy="365760"/>
          </a:xfrm>
          <a:prstGeom prst="rect">
            <a:avLst/>
          </a:prstGeom>
        </p:spPr>
      </p:pic>
      <p:sp>
        <p:nvSpPr>
          <p:cNvPr id="17" name="Notion auth text"/>
          <p:cNvSpPr txBox="1"/>
          <p:nvPr/>
        </p:nvSpPr>
        <p:spPr>
          <a:xfrm>
            <a:off x="5623560" y="2157984"/>
            <a:ext cx="2103120" cy="566928"/>
          </a:xfrm>
          <a:prstGeom prst="rect">
            <a:avLst/>
          </a:prstGeom>
          <a:noFill/>
          <a:ln/>
        </p:spPr>
        <p:txBody>
          <a:bodyPr wrap="square" lIns="0" tIns="0" rIns="0" bIns="0" rtlCol="0" anchor="ctr"/>
          <a:lstStyle/>
          <a:p>
            <a:pPr marL="0" indent="0">
              <a:buNone/>
            </a:pPr>
            <a:r>
              <a:rPr lang="en-US" sz="1200" b="1" dirty="0">
                <a:solidFill>
                  <a:schemeClr val="tx1"/>
                </a:solidFill>
              </a:rPr>
              <a:t>Official Notion server</a:t>
            </a:r>
            <a:endParaRPr lang="en-US" sz="1200" dirty="0"/>
          </a:p>
          <a:p>
            <a:pPr marL="0" indent="0">
              <a:buNone/>
            </a:pPr>
            <a:r>
              <a:rPr lang="en-US" sz="1050" dirty="0">
                <a:solidFill>
                  <a:schemeClr val="tx2"/>
                </a:solidFill>
              </a:rPr>
              <a:t>OAuth in the browser</a:t>
            </a:r>
            <a:endParaRPr lang="en-US" sz="1200" dirty="0"/>
          </a:p>
        </p:txBody>
      </p:sp>
      <p:sp>
        <p:nvSpPr>
          <p:cNvPr id="18" name="Notion type pill"/>
          <p:cNvSpPr/>
          <p:nvPr/>
        </p:nvSpPr>
        <p:spPr>
          <a:xfrm>
            <a:off x="7772400" y="2313432"/>
            <a:ext cx="804672" cy="256032"/>
          </a:xfrm>
          <a:prstGeom prst="roundRect">
            <a:avLst>
              <a:gd name="adj" fmla="val 50000"/>
            </a:avLst>
          </a:prstGeom>
          <a:solidFill>
            <a:srgbClr val="2E9E6B"/>
          </a:solidFill>
          <a:ln w="12700">
            <a:solidFill>
              <a:srgbClr val="2E9E6B"/>
            </a:solidFill>
            <a:prstDash val="solid"/>
          </a:ln>
        </p:spPr>
        <p:txBody>
          <a:bodyPr/>
          <a:lstStyle/>
          <a:p>
            <a:endParaRPr lang="en-US"/>
          </a:p>
        </p:txBody>
      </p:sp>
      <p:sp>
        <p:nvSpPr>
          <p:cNvPr id="19" name="Notion type"/>
          <p:cNvSpPr txBox="1"/>
          <p:nvPr/>
        </p:nvSpPr>
        <p:spPr>
          <a:xfrm>
            <a:off x="7772400" y="2313432"/>
            <a:ext cx="804672" cy="256032"/>
          </a:xfrm>
          <a:prstGeom prst="rect">
            <a:avLst/>
          </a:prstGeom>
          <a:noFill/>
          <a:ln/>
        </p:spPr>
        <p:txBody>
          <a:bodyPr wrap="square" lIns="0" tIns="0" rIns="0" bIns="0" rtlCol="0" anchor="ctr"/>
          <a:lstStyle/>
          <a:p>
            <a:pPr marL="0" indent="0" algn="ctr">
              <a:buNone/>
            </a:pPr>
            <a:r>
              <a:rPr lang="en-US" sz="900" b="1" dirty="0">
                <a:solidFill>
                  <a:srgbClr val="FFFFFF"/>
                </a:solidFill>
              </a:rPr>
              <a:t>Official</a:t>
            </a:r>
            <a:endParaRPr lang="en-US" sz="900" dirty="0"/>
          </a:p>
        </p:txBody>
      </p:sp>
      <p:sp>
        <p:nvSpPr>
          <p:cNvPr id="20" name="Supabase auth card"/>
          <p:cNvSpPr/>
          <p:nvPr/>
        </p:nvSpPr>
        <p:spPr>
          <a:xfrm>
            <a:off x="4983480" y="2935224"/>
            <a:ext cx="3703320" cy="713232"/>
          </a:xfrm>
          <a:prstGeom prst="roundRect">
            <a:avLst>
              <a:gd name="adj" fmla="val 10256"/>
            </a:avLst>
          </a:prstGeom>
          <a:solidFill>
            <a:srgbClr val="F3F4F8"/>
          </a:solidFill>
          <a:ln w="12700">
            <a:solidFill>
              <a:srgbClr val="F3F4F8"/>
            </a:solidFill>
            <a:prstDash val="solid"/>
          </a:ln>
        </p:spPr>
        <p:txBody>
          <a:bodyPr/>
          <a:lstStyle/>
          <a:p>
            <a:endParaRPr lang="en-US"/>
          </a:p>
        </p:txBody>
      </p:sp>
      <p:pic>
        <p:nvPicPr>
          <p:cNvPr id="21" name="Supabase auth logo" descr="preencoded.png"/>
          <p:cNvPicPr>
            <a:picLocks noChangeAspect="1"/>
          </p:cNvPicPr>
          <p:nvPr/>
        </p:nvPicPr>
        <p:blipFill>
          <a:blip r:embed="rId6"/>
          <a:stretch>
            <a:fillRect/>
          </a:stretch>
        </p:blipFill>
        <p:spPr>
          <a:xfrm>
            <a:off x="5120640" y="3108960"/>
            <a:ext cx="365760" cy="365760"/>
          </a:xfrm>
          <a:prstGeom prst="rect">
            <a:avLst/>
          </a:prstGeom>
        </p:spPr>
      </p:pic>
      <p:sp>
        <p:nvSpPr>
          <p:cNvPr id="22" name="Supabase auth text"/>
          <p:cNvSpPr txBox="1"/>
          <p:nvPr/>
        </p:nvSpPr>
        <p:spPr>
          <a:xfrm>
            <a:off x="5623560" y="3008376"/>
            <a:ext cx="2103120" cy="566928"/>
          </a:xfrm>
          <a:prstGeom prst="rect">
            <a:avLst/>
          </a:prstGeom>
          <a:noFill/>
          <a:ln/>
        </p:spPr>
        <p:txBody>
          <a:bodyPr wrap="square" lIns="0" tIns="0" rIns="0" bIns="0" rtlCol="0" anchor="ctr"/>
          <a:lstStyle/>
          <a:p>
            <a:pPr marL="0" indent="0">
              <a:buNone/>
            </a:pPr>
            <a:r>
              <a:rPr lang="en-US" sz="1200" b="1" dirty="0">
                <a:solidFill>
                  <a:schemeClr val="tx1"/>
                </a:solidFill>
              </a:rPr>
              <a:t>Official Supabase server</a:t>
            </a:r>
            <a:endParaRPr lang="en-US" sz="1200" dirty="0"/>
          </a:p>
          <a:p>
            <a:pPr marL="0" indent="0">
              <a:buNone/>
            </a:pPr>
            <a:r>
              <a:rPr lang="en-US" sz="1050" dirty="0">
                <a:solidFill>
                  <a:schemeClr val="tx2"/>
                </a:solidFill>
              </a:rPr>
              <a:t>OAuth, read-only mode</a:t>
            </a:r>
            <a:endParaRPr lang="en-US" sz="1200" dirty="0"/>
          </a:p>
        </p:txBody>
      </p:sp>
      <p:sp>
        <p:nvSpPr>
          <p:cNvPr id="23" name="Supabase type pill"/>
          <p:cNvSpPr/>
          <p:nvPr/>
        </p:nvSpPr>
        <p:spPr>
          <a:xfrm>
            <a:off x="7772400" y="3163824"/>
            <a:ext cx="804672" cy="256032"/>
          </a:xfrm>
          <a:prstGeom prst="roundRect">
            <a:avLst>
              <a:gd name="adj" fmla="val 50000"/>
            </a:avLst>
          </a:prstGeom>
          <a:solidFill>
            <a:srgbClr val="2E9E6B"/>
          </a:solidFill>
          <a:ln w="12700">
            <a:solidFill>
              <a:srgbClr val="2E9E6B"/>
            </a:solidFill>
            <a:prstDash val="solid"/>
          </a:ln>
        </p:spPr>
        <p:txBody>
          <a:bodyPr/>
          <a:lstStyle/>
          <a:p>
            <a:endParaRPr lang="en-US"/>
          </a:p>
        </p:txBody>
      </p:sp>
      <p:sp>
        <p:nvSpPr>
          <p:cNvPr id="24" name="Supabase type"/>
          <p:cNvSpPr txBox="1"/>
          <p:nvPr/>
        </p:nvSpPr>
        <p:spPr>
          <a:xfrm>
            <a:off x="7772400" y="3163824"/>
            <a:ext cx="804672" cy="256032"/>
          </a:xfrm>
          <a:prstGeom prst="rect">
            <a:avLst/>
          </a:prstGeom>
          <a:noFill/>
          <a:ln/>
        </p:spPr>
        <p:txBody>
          <a:bodyPr wrap="square" lIns="0" tIns="0" rIns="0" bIns="0" rtlCol="0" anchor="ctr"/>
          <a:lstStyle/>
          <a:p>
            <a:pPr marL="0" indent="0" algn="ctr">
              <a:buNone/>
            </a:pPr>
            <a:r>
              <a:rPr lang="en-US" sz="900" b="1" dirty="0">
                <a:solidFill>
                  <a:srgbClr val="FFFFFF"/>
                </a:solidFill>
              </a:rPr>
              <a:t>Official</a:t>
            </a:r>
            <a:endParaRPr lang="en-US" sz="900" dirty="0"/>
          </a:p>
        </p:txBody>
      </p:sp>
      <p:sp>
        <p:nvSpPr>
          <p:cNvPr id="25" name="Gmail auth card"/>
          <p:cNvSpPr/>
          <p:nvPr/>
        </p:nvSpPr>
        <p:spPr>
          <a:xfrm>
            <a:off x="4983480" y="3785616"/>
            <a:ext cx="3703320" cy="713232"/>
          </a:xfrm>
          <a:prstGeom prst="roundRect">
            <a:avLst>
              <a:gd name="adj" fmla="val 10256"/>
            </a:avLst>
          </a:prstGeom>
          <a:solidFill>
            <a:srgbClr val="F3F4F8"/>
          </a:solidFill>
          <a:ln w="12700">
            <a:solidFill>
              <a:srgbClr val="F3F4F8"/>
            </a:solidFill>
            <a:prstDash val="solid"/>
          </a:ln>
        </p:spPr>
        <p:txBody>
          <a:bodyPr/>
          <a:lstStyle/>
          <a:p>
            <a:endParaRPr lang="en-US"/>
          </a:p>
        </p:txBody>
      </p:sp>
      <p:pic>
        <p:nvPicPr>
          <p:cNvPr id="26" name="Gmail auth logo" descr="preencoded.png"/>
          <p:cNvPicPr>
            <a:picLocks noChangeAspect="1"/>
          </p:cNvPicPr>
          <p:nvPr/>
        </p:nvPicPr>
        <p:blipFill>
          <a:blip r:embed="rId7"/>
          <a:stretch>
            <a:fillRect/>
          </a:stretch>
        </p:blipFill>
        <p:spPr>
          <a:xfrm>
            <a:off x="5120640" y="3959352"/>
            <a:ext cx="365760" cy="365760"/>
          </a:xfrm>
          <a:prstGeom prst="rect">
            <a:avLst/>
          </a:prstGeom>
        </p:spPr>
      </p:pic>
      <p:sp>
        <p:nvSpPr>
          <p:cNvPr id="27" name="Gmail auth text"/>
          <p:cNvSpPr txBox="1"/>
          <p:nvPr/>
        </p:nvSpPr>
        <p:spPr>
          <a:xfrm>
            <a:off x="5623560" y="3858768"/>
            <a:ext cx="2103120" cy="566928"/>
          </a:xfrm>
          <a:prstGeom prst="rect">
            <a:avLst/>
          </a:prstGeom>
          <a:noFill/>
          <a:ln/>
        </p:spPr>
        <p:txBody>
          <a:bodyPr wrap="square" lIns="0" tIns="0" rIns="0" bIns="0" rtlCol="0" anchor="ctr"/>
          <a:lstStyle/>
          <a:p>
            <a:pPr marL="0" indent="0">
              <a:buNone/>
            </a:pPr>
            <a:r>
              <a:rPr lang="en-US" sz="1200" b="1" dirty="0">
                <a:solidFill>
                  <a:schemeClr val="tx1"/>
                </a:solidFill>
              </a:rPr>
              <a:t>Anthropic's official Gmail connector</a:t>
            </a:r>
            <a:endParaRPr lang="en-US" sz="1200" dirty="0"/>
          </a:p>
          <a:p>
            <a:pPr marL="0" indent="0">
              <a:buNone/>
            </a:pPr>
            <a:r>
              <a:rPr lang="en-US" sz="1050" dirty="0">
                <a:solidFill>
                  <a:schemeClr val="tx2"/>
                </a:solidFill>
              </a:rPr>
              <a:t>OAuth (claude.ai Settings → Connectors)</a:t>
            </a:r>
            <a:endParaRPr lang="en-US" sz="1200" dirty="0"/>
          </a:p>
        </p:txBody>
      </p:sp>
      <p:sp>
        <p:nvSpPr>
          <p:cNvPr id="28" name="Gmail type pill"/>
          <p:cNvSpPr/>
          <p:nvPr/>
        </p:nvSpPr>
        <p:spPr>
          <a:xfrm>
            <a:off x="7772400" y="4014216"/>
            <a:ext cx="804672" cy="256032"/>
          </a:xfrm>
          <a:prstGeom prst="roundRect">
            <a:avLst>
              <a:gd name="adj" fmla="val 50000"/>
            </a:avLst>
          </a:prstGeom>
          <a:solidFill>
            <a:srgbClr val="2E9E6B"/>
          </a:solidFill>
          <a:ln w="12700">
            <a:solidFill>
              <a:srgbClr val="2E9E6B"/>
            </a:solidFill>
            <a:prstDash val="solid"/>
          </a:ln>
        </p:spPr>
        <p:txBody>
          <a:bodyPr/>
          <a:lstStyle/>
          <a:p>
            <a:endParaRPr lang="en-US"/>
          </a:p>
        </p:txBody>
      </p:sp>
      <p:sp>
        <p:nvSpPr>
          <p:cNvPr id="29" name="Gmail type"/>
          <p:cNvSpPr txBox="1"/>
          <p:nvPr/>
        </p:nvSpPr>
        <p:spPr>
          <a:xfrm>
            <a:off x="7772400" y="4014216"/>
            <a:ext cx="804672" cy="256032"/>
          </a:xfrm>
          <a:prstGeom prst="rect">
            <a:avLst/>
          </a:prstGeom>
          <a:noFill/>
          <a:ln/>
        </p:spPr>
        <p:txBody>
          <a:bodyPr wrap="square" lIns="0" tIns="0" rIns="0" bIns="0" rtlCol="0" anchor="ctr"/>
          <a:lstStyle/>
          <a:p>
            <a:pPr marL="0" indent="0" algn="ctr">
              <a:buNone/>
            </a:pPr>
            <a:r>
              <a:rPr lang="en-US" sz="900" b="1" dirty="0">
                <a:solidFill>
                  <a:srgbClr val="FFFFFF"/>
                </a:solidFill>
              </a:rPr>
              <a:t>Official</a:t>
            </a:r>
            <a:endParaRPr lang="en-US" sz="900" dirty="0"/>
          </a:p>
        </p:txBody>
      </p:sp>
      <p:sp>
        <p:nvSpPr>
          <p:cNvPr id="30" name="Slide Number Placeholder 0"/>
          <p:cNvSpPr>
            <a:spLocks noGrp="1"/>
          </p:cNvSpPr>
          <p:nvPr>
            <p:ph type="sldNum" sz="quarter" idx="4294967295"/>
          </p:nvPr>
        </p:nvSpPr>
        <p:spPr>
          <a:xfrm>
            <a:off x="8321040" y="4828032"/>
            <a:ext cx="36576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100" dirty="0">
                <a:solidFill>
                  <a:schemeClr val="accent1"/>
                </a:solidFill>
              </a:rPr>
              <a:t>SERVICE 1 OF 4</a:t>
            </a:r>
            <a:endParaRPr lang="en-US" sz="1100" dirty="0"/>
          </a:p>
        </p:txBody>
      </p:sp>
      <p:sp>
        <p:nvSpPr>
          <p:cNvPr id="3" name="Text 0"/>
          <p:cNvSpPr>
            <a:spLocks noGrp="1"/>
          </p:cNvSpPr>
          <p:nvPr>
            <p:ph type="title" idx="101" hasCustomPrompt="1"/>
          </p:nvPr>
        </p:nvSpPr>
        <p:spPr>
          <a:xfrm>
            <a:off x="457200" y="475488"/>
            <a:ext cx="8229600" cy="54864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Gmail: original data vs. dashboard</a:t>
            </a:r>
            <a:endParaRPr lang="en-US" sz="2600" dirty="0"/>
          </a:p>
        </p:txBody>
      </p:sp>
      <p:pic>
        <p:nvPicPr>
          <p:cNvPr id="4" name="Gmail logo" descr="preencoded.png"/>
          <p:cNvPicPr>
            <a:picLocks noChangeAspect="1"/>
          </p:cNvPicPr>
          <p:nvPr/>
        </p:nvPicPr>
        <p:blipFill>
          <a:blip r:embed="rId3"/>
          <a:stretch>
            <a:fillRect/>
          </a:stretch>
        </p:blipFill>
        <p:spPr>
          <a:xfrm>
            <a:off x="8229600" y="411480"/>
            <a:ext cx="457200" cy="457200"/>
          </a:xfrm>
          <a:prstGeom prst="rect">
            <a:avLst/>
          </a:prstGeom>
        </p:spPr>
      </p:pic>
      <p:sp>
        <p:nvSpPr>
          <p:cNvPr id="5" name="orig caption"/>
          <p:cNvSpPr txBox="1"/>
          <p:nvPr/>
        </p:nvSpPr>
        <p:spPr>
          <a:xfrm>
            <a:off x="457200" y="1024128"/>
            <a:ext cx="3931920" cy="228600"/>
          </a:xfrm>
          <a:prstGeom prst="rect">
            <a:avLst/>
          </a:prstGeom>
          <a:noFill/>
          <a:ln/>
        </p:spPr>
        <p:txBody>
          <a:bodyPr wrap="square" lIns="0" tIns="0" rIns="0" bIns="0" rtlCol="0" anchor="ctr"/>
          <a:lstStyle/>
          <a:p>
            <a:pPr marL="0" indent="0">
              <a:buNone/>
            </a:pPr>
            <a:r>
              <a:rPr lang="en-US" sz="1000" b="1" dirty="0">
                <a:solidFill>
                  <a:schemeClr val="tx1"/>
                </a:solidFill>
              </a:rPr>
              <a:t>ORIGINAL  </a:t>
            </a:r>
            <a:r>
              <a:rPr lang="en-US" sz="1000" dirty="0">
                <a:solidFill>
                  <a:schemeClr val="tx2"/>
                </a:solidFill>
              </a:rPr>
              <a:t>Gmail test inbox</a:t>
            </a:r>
            <a:endParaRPr lang="en-US" sz="1000" dirty="0"/>
          </a:p>
        </p:txBody>
      </p:sp>
      <p:sp>
        <p:nvSpPr>
          <p:cNvPr id="6" name="orig screenshot frame"/>
          <p:cNvSpPr/>
          <p:nvPr/>
        </p:nvSpPr>
        <p:spPr>
          <a:xfrm>
            <a:off x="420624" y="1261872"/>
            <a:ext cx="4005072" cy="2284857"/>
          </a:xfrm>
          <a:prstGeom prst="roundRect">
            <a:avLst>
              <a:gd name="adj" fmla="val 3202"/>
            </a:avLst>
          </a:prstGeom>
          <a:solidFill>
            <a:srgbClr val="FFFFFF"/>
          </a:solidFill>
          <a:ln w="9525">
            <a:solidFill>
              <a:srgbClr val="D9DCE5"/>
            </a:solidFill>
            <a:prstDash val="solid"/>
          </a:ln>
          <a:effectLst>
            <a:outerShdw blurRad="101600" dist="25400" dir="5400000" algn="bl" rotWithShape="0">
              <a:srgbClr val="000000">
                <a:alpha val="14000"/>
              </a:srgbClr>
            </a:outerShdw>
          </a:effectLst>
        </p:spPr>
        <p:txBody>
          <a:bodyPr/>
          <a:lstStyle/>
          <a:p>
            <a:endParaRPr lang="en-US"/>
          </a:p>
        </p:txBody>
      </p:sp>
      <p:pic>
        <p:nvPicPr>
          <p:cNvPr id="7" name="orig screenshot" descr="Gmail original test content"/>
          <p:cNvPicPr>
            <a:picLocks noChangeAspect="1"/>
          </p:cNvPicPr>
          <p:nvPr/>
        </p:nvPicPr>
        <p:blipFill>
          <a:blip r:embed="rId4"/>
          <a:stretch>
            <a:fillRect/>
          </a:stretch>
        </p:blipFill>
        <p:spPr>
          <a:xfrm>
            <a:off x="457200" y="1298448"/>
            <a:ext cx="3931920" cy="2211705"/>
          </a:xfrm>
          <a:prstGeom prst="rect">
            <a:avLst/>
          </a:prstGeom>
        </p:spPr>
      </p:pic>
      <p:sp>
        <p:nvSpPr>
          <p:cNvPr id="8" name="dash caption"/>
          <p:cNvSpPr txBox="1"/>
          <p:nvPr/>
        </p:nvSpPr>
        <p:spPr>
          <a:xfrm>
            <a:off x="4754880" y="1024128"/>
            <a:ext cx="3931920" cy="228600"/>
          </a:xfrm>
          <a:prstGeom prst="rect">
            <a:avLst/>
          </a:prstGeom>
          <a:noFill/>
          <a:ln/>
        </p:spPr>
        <p:txBody>
          <a:bodyPr wrap="square" lIns="0" tIns="0" rIns="0" bIns="0" rtlCol="0" anchor="ctr"/>
          <a:lstStyle/>
          <a:p>
            <a:pPr marL="0" indent="0">
              <a:buNone/>
            </a:pPr>
            <a:r>
              <a:rPr lang="en-US" sz="1000" b="1" dirty="0">
                <a:solidFill>
                  <a:schemeClr val="accent1"/>
                </a:solidFill>
              </a:rPr>
              <a:t>IN THE DASHBOARD  </a:t>
            </a:r>
            <a:r>
              <a:rPr lang="en-US" sz="1000" dirty="0">
                <a:solidFill>
                  <a:schemeClr val="tx2"/>
                </a:solidFill>
              </a:rPr>
              <a:t>Dashboard, only Gmail selected (10 results)</a:t>
            </a:r>
            <a:endParaRPr lang="en-US" sz="1000" dirty="0"/>
          </a:p>
        </p:txBody>
      </p:sp>
      <p:sp>
        <p:nvSpPr>
          <p:cNvPr id="9" name="dash screenshot frame"/>
          <p:cNvSpPr/>
          <p:nvPr/>
        </p:nvSpPr>
        <p:spPr>
          <a:xfrm>
            <a:off x="4718304" y="1261872"/>
            <a:ext cx="4005072" cy="2284857"/>
          </a:xfrm>
          <a:prstGeom prst="roundRect">
            <a:avLst>
              <a:gd name="adj" fmla="val 3202"/>
            </a:avLst>
          </a:prstGeom>
          <a:solidFill>
            <a:srgbClr val="FFFFFF"/>
          </a:solidFill>
          <a:ln w="9525">
            <a:solidFill>
              <a:srgbClr val="D9DCE5"/>
            </a:solidFill>
            <a:prstDash val="solid"/>
          </a:ln>
          <a:effectLst>
            <a:outerShdw blurRad="101600" dist="25400" dir="5400000" algn="bl" rotWithShape="0">
              <a:srgbClr val="000000">
                <a:alpha val="14000"/>
              </a:srgbClr>
            </a:outerShdw>
          </a:effectLst>
        </p:spPr>
        <p:txBody>
          <a:bodyPr/>
          <a:lstStyle/>
          <a:p>
            <a:endParaRPr lang="en-US"/>
          </a:p>
        </p:txBody>
      </p:sp>
      <p:pic>
        <p:nvPicPr>
          <p:cNvPr id="10" name="dash screenshot" descr="Gmail content in the dashboard"/>
          <p:cNvPicPr>
            <a:picLocks noChangeAspect="1"/>
          </p:cNvPicPr>
          <p:nvPr/>
        </p:nvPicPr>
        <p:blipFill>
          <a:blip r:embed="rId5"/>
          <a:stretch>
            <a:fillRect/>
          </a:stretch>
        </p:blipFill>
        <p:spPr>
          <a:xfrm>
            <a:off x="4754880" y="1298448"/>
            <a:ext cx="3931920" cy="2211705"/>
          </a:xfrm>
          <a:prstGeom prst="rect">
            <a:avLst/>
          </a:prstGeom>
        </p:spPr>
      </p:pic>
      <p:sp>
        <p:nvSpPr>
          <p:cNvPr id="11" name="fact card 0"/>
          <p:cNvSpPr/>
          <p:nvPr/>
        </p:nvSpPr>
        <p:spPr>
          <a:xfrm>
            <a:off x="457200" y="3749040"/>
            <a:ext cx="2651760" cy="868680"/>
          </a:xfrm>
          <a:prstGeom prst="roundRect">
            <a:avLst>
              <a:gd name="adj" fmla="val 8421"/>
            </a:avLst>
          </a:prstGeom>
          <a:solidFill>
            <a:srgbClr val="F3F4F8"/>
          </a:solidFill>
          <a:ln w="12700">
            <a:solidFill>
              <a:srgbClr val="F3F4F8"/>
            </a:solidFill>
            <a:prstDash val="solid"/>
          </a:ln>
        </p:spPr>
        <p:txBody>
          <a:bodyPr/>
          <a:lstStyle/>
          <a:p>
            <a:endParaRPr lang="en-US"/>
          </a:p>
        </p:txBody>
      </p:sp>
      <p:sp>
        <p:nvSpPr>
          <p:cNvPr id="12" name="fact 0"/>
          <p:cNvSpPr txBox="1"/>
          <p:nvPr/>
        </p:nvSpPr>
        <p:spPr>
          <a:xfrm>
            <a:off x="594360" y="3794760"/>
            <a:ext cx="2377440" cy="777240"/>
          </a:xfrm>
          <a:prstGeom prst="rect">
            <a:avLst/>
          </a:prstGeom>
          <a:noFill/>
          <a:ln/>
        </p:spPr>
        <p:txBody>
          <a:bodyPr wrap="square" lIns="0" tIns="0" rIns="0" bIns="0" rtlCol="0" anchor="ctr"/>
          <a:lstStyle/>
          <a:p>
            <a:pPr marL="0" indent="0">
              <a:buNone/>
            </a:pPr>
            <a:r>
              <a:rPr lang="en-US" sz="1100" dirty="0">
                <a:solidFill>
                  <a:schemeClr val="tx1"/>
                </a:solidFill>
              </a:rPr>
              <a:t>10 fake customer emails about prices, financing, stock and trade-ins</a:t>
            </a:r>
            <a:endParaRPr lang="en-US" sz="1100" dirty="0"/>
          </a:p>
        </p:txBody>
      </p:sp>
      <p:sp>
        <p:nvSpPr>
          <p:cNvPr id="13" name="fact card 1"/>
          <p:cNvSpPr/>
          <p:nvPr/>
        </p:nvSpPr>
        <p:spPr>
          <a:xfrm>
            <a:off x="3264408" y="3749040"/>
            <a:ext cx="2651760" cy="868680"/>
          </a:xfrm>
          <a:prstGeom prst="roundRect">
            <a:avLst>
              <a:gd name="adj" fmla="val 8421"/>
            </a:avLst>
          </a:prstGeom>
          <a:solidFill>
            <a:srgbClr val="F3F4F8"/>
          </a:solidFill>
          <a:ln w="12700">
            <a:solidFill>
              <a:srgbClr val="F3F4F8"/>
            </a:solidFill>
            <a:prstDash val="solid"/>
          </a:ln>
        </p:spPr>
        <p:txBody>
          <a:bodyPr/>
          <a:lstStyle/>
          <a:p>
            <a:endParaRPr lang="en-US"/>
          </a:p>
        </p:txBody>
      </p:sp>
      <p:sp>
        <p:nvSpPr>
          <p:cNvPr id="14" name="fact 1"/>
          <p:cNvSpPr txBox="1"/>
          <p:nvPr/>
        </p:nvSpPr>
        <p:spPr>
          <a:xfrm>
            <a:off x="3401568" y="3794760"/>
            <a:ext cx="2377440" cy="777240"/>
          </a:xfrm>
          <a:prstGeom prst="rect">
            <a:avLst/>
          </a:prstGeom>
          <a:noFill/>
          <a:ln/>
        </p:spPr>
        <p:txBody>
          <a:bodyPr wrap="square" lIns="0" tIns="0" rIns="0" bIns="0" rtlCol="0" anchor="ctr"/>
          <a:lstStyle/>
          <a:p>
            <a:pPr marL="0" indent="0">
              <a:buNone/>
            </a:pPr>
            <a:r>
              <a:rPr lang="en-US" sz="1100" dirty="0">
                <a:solidFill>
                  <a:schemeClr val="tx1"/>
                </a:solidFill>
              </a:rPr>
              <a:t>Connected with Anthropic's official claude.ai Gmail connector, signing in with OAuth</a:t>
            </a:r>
            <a:endParaRPr lang="en-US" sz="1100" dirty="0"/>
          </a:p>
        </p:txBody>
      </p:sp>
      <p:sp>
        <p:nvSpPr>
          <p:cNvPr id="15" name="fact card 2"/>
          <p:cNvSpPr/>
          <p:nvPr/>
        </p:nvSpPr>
        <p:spPr>
          <a:xfrm>
            <a:off x="6071616" y="3749040"/>
            <a:ext cx="2651760" cy="868680"/>
          </a:xfrm>
          <a:prstGeom prst="roundRect">
            <a:avLst>
              <a:gd name="adj" fmla="val 8421"/>
            </a:avLst>
          </a:prstGeom>
          <a:solidFill>
            <a:srgbClr val="F3F4F8"/>
          </a:solidFill>
          <a:ln w="12700">
            <a:solidFill>
              <a:srgbClr val="F3F4F8"/>
            </a:solidFill>
            <a:prstDash val="solid"/>
          </a:ln>
        </p:spPr>
        <p:txBody>
          <a:bodyPr/>
          <a:lstStyle/>
          <a:p>
            <a:endParaRPr lang="en-US"/>
          </a:p>
        </p:txBody>
      </p:sp>
      <p:sp>
        <p:nvSpPr>
          <p:cNvPr id="16" name="fact 2"/>
          <p:cNvSpPr txBox="1"/>
          <p:nvPr/>
        </p:nvSpPr>
        <p:spPr>
          <a:xfrm>
            <a:off x="6208776" y="3794760"/>
            <a:ext cx="2377440" cy="777240"/>
          </a:xfrm>
          <a:prstGeom prst="rect">
            <a:avLst/>
          </a:prstGeom>
          <a:noFill/>
          <a:ln/>
        </p:spPr>
        <p:txBody>
          <a:bodyPr wrap="square" lIns="0" tIns="0" rIns="0" bIns="0" rtlCol="0" anchor="ctr"/>
          <a:lstStyle/>
          <a:p>
            <a:pPr marL="0" indent="0">
              <a:buNone/>
            </a:pPr>
            <a:r>
              <a:rPr lang="en-US" sz="1100" dirty="0">
                <a:solidFill>
                  <a:schemeClr val="tx1"/>
                </a:solidFill>
              </a:rPr>
              <a:t>Each email saved as a JSON file with from, to, date, subject and labels</a:t>
            </a:r>
            <a:endParaRPr lang="en-US" sz="1100" dirty="0"/>
          </a:p>
        </p:txBody>
      </p:sp>
      <p:sp>
        <p:nvSpPr>
          <p:cNvPr id="25" name="Slide Number Placeholder 0"/>
          <p:cNvSpPr>
            <a:spLocks noGrp="1"/>
          </p:cNvSpPr>
          <p:nvPr>
            <p:ph type="sldNum" sz="quarter" idx="4294967295"/>
          </p:nvPr>
        </p:nvSpPr>
        <p:spPr>
          <a:xfrm>
            <a:off x="8321040" y="4828032"/>
            <a:ext cx="36576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100" dirty="0">
                <a:solidFill>
                  <a:schemeClr val="accent1"/>
                </a:solidFill>
              </a:rPr>
              <a:t>SERVICE 2 OF 4</a:t>
            </a:r>
            <a:endParaRPr lang="en-US" sz="1100" dirty="0"/>
          </a:p>
        </p:txBody>
      </p:sp>
      <p:sp>
        <p:nvSpPr>
          <p:cNvPr id="3" name="Text 0"/>
          <p:cNvSpPr>
            <a:spLocks noGrp="1"/>
          </p:cNvSpPr>
          <p:nvPr>
            <p:ph type="title" idx="101" hasCustomPrompt="1"/>
          </p:nvPr>
        </p:nvSpPr>
        <p:spPr>
          <a:xfrm>
            <a:off x="457200" y="475488"/>
            <a:ext cx="8229600" cy="54864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GitHub: original data vs. dashboard</a:t>
            </a:r>
            <a:endParaRPr lang="en-US" sz="2600" dirty="0"/>
          </a:p>
        </p:txBody>
      </p:sp>
      <p:pic>
        <p:nvPicPr>
          <p:cNvPr id="4" name="GitHub logo" descr="preencoded.png"/>
          <p:cNvPicPr>
            <a:picLocks noChangeAspect="1"/>
          </p:cNvPicPr>
          <p:nvPr/>
        </p:nvPicPr>
        <p:blipFill>
          <a:blip r:embed="rId3"/>
          <a:stretch>
            <a:fillRect/>
          </a:stretch>
        </p:blipFill>
        <p:spPr>
          <a:xfrm>
            <a:off x="8229600" y="411480"/>
            <a:ext cx="457200" cy="457200"/>
          </a:xfrm>
          <a:prstGeom prst="rect">
            <a:avLst/>
          </a:prstGeom>
        </p:spPr>
      </p:pic>
      <p:sp>
        <p:nvSpPr>
          <p:cNvPr id="5" name="orig caption"/>
          <p:cNvSpPr txBox="1"/>
          <p:nvPr/>
        </p:nvSpPr>
        <p:spPr>
          <a:xfrm>
            <a:off x="457200" y="1024128"/>
            <a:ext cx="3931920" cy="228600"/>
          </a:xfrm>
          <a:prstGeom prst="rect">
            <a:avLst/>
          </a:prstGeom>
          <a:noFill/>
          <a:ln/>
        </p:spPr>
        <p:txBody>
          <a:bodyPr wrap="square" lIns="0" tIns="0" rIns="0" bIns="0" rtlCol="0" anchor="ctr"/>
          <a:lstStyle/>
          <a:p>
            <a:pPr marL="0" indent="0">
              <a:buNone/>
            </a:pPr>
            <a:r>
              <a:rPr lang="en-US" sz="1000" b="1" dirty="0">
                <a:solidFill>
                  <a:schemeClr val="tx1"/>
                </a:solidFill>
              </a:rPr>
              <a:t>ORIGINAL  </a:t>
            </a:r>
            <a:r>
              <a:rPr lang="en-US" sz="1000" dirty="0">
                <a:solidFill>
                  <a:schemeClr val="tx2"/>
                </a:solidFill>
              </a:rPr>
              <a:t>Issues in repo dealership-test-tasks</a:t>
            </a:r>
            <a:endParaRPr lang="en-US" sz="1000" dirty="0"/>
          </a:p>
        </p:txBody>
      </p:sp>
      <p:sp>
        <p:nvSpPr>
          <p:cNvPr id="6" name="orig screenshot frame"/>
          <p:cNvSpPr/>
          <p:nvPr/>
        </p:nvSpPr>
        <p:spPr>
          <a:xfrm>
            <a:off x="420624" y="1261872"/>
            <a:ext cx="4005072" cy="2284857"/>
          </a:xfrm>
          <a:prstGeom prst="roundRect">
            <a:avLst>
              <a:gd name="adj" fmla="val 3202"/>
            </a:avLst>
          </a:prstGeom>
          <a:solidFill>
            <a:srgbClr val="FFFFFF"/>
          </a:solidFill>
          <a:ln w="9525">
            <a:solidFill>
              <a:srgbClr val="D9DCE5"/>
            </a:solidFill>
            <a:prstDash val="solid"/>
          </a:ln>
          <a:effectLst>
            <a:outerShdw blurRad="101600" dist="25400" dir="5400000" algn="bl" rotWithShape="0">
              <a:srgbClr val="000000">
                <a:alpha val="14000"/>
              </a:srgbClr>
            </a:outerShdw>
          </a:effectLst>
        </p:spPr>
        <p:txBody>
          <a:bodyPr/>
          <a:lstStyle/>
          <a:p>
            <a:endParaRPr lang="en-US"/>
          </a:p>
        </p:txBody>
      </p:sp>
      <p:pic>
        <p:nvPicPr>
          <p:cNvPr id="7" name="orig screenshot" descr="GitHub original test content"/>
          <p:cNvPicPr>
            <a:picLocks noChangeAspect="1"/>
          </p:cNvPicPr>
          <p:nvPr/>
        </p:nvPicPr>
        <p:blipFill>
          <a:blip r:embed="rId4"/>
          <a:stretch>
            <a:fillRect/>
          </a:stretch>
        </p:blipFill>
        <p:spPr>
          <a:xfrm>
            <a:off x="457200" y="1298448"/>
            <a:ext cx="3931920" cy="2211705"/>
          </a:xfrm>
          <a:prstGeom prst="rect">
            <a:avLst/>
          </a:prstGeom>
        </p:spPr>
      </p:pic>
      <p:sp>
        <p:nvSpPr>
          <p:cNvPr id="8" name="dash caption"/>
          <p:cNvSpPr txBox="1"/>
          <p:nvPr/>
        </p:nvSpPr>
        <p:spPr>
          <a:xfrm>
            <a:off x="4754880" y="1024128"/>
            <a:ext cx="3931920" cy="228600"/>
          </a:xfrm>
          <a:prstGeom prst="rect">
            <a:avLst/>
          </a:prstGeom>
          <a:noFill/>
          <a:ln/>
        </p:spPr>
        <p:txBody>
          <a:bodyPr wrap="square" lIns="0" tIns="0" rIns="0" bIns="0" rtlCol="0" anchor="ctr"/>
          <a:lstStyle/>
          <a:p>
            <a:pPr marL="0" indent="0">
              <a:buNone/>
            </a:pPr>
            <a:r>
              <a:rPr lang="en-US" sz="1000" b="1" dirty="0">
                <a:solidFill>
                  <a:schemeClr val="accent1"/>
                </a:solidFill>
              </a:rPr>
              <a:t>IN THE DASHBOARD  </a:t>
            </a:r>
            <a:r>
              <a:rPr lang="en-US" sz="1000" dirty="0">
                <a:solidFill>
                  <a:schemeClr val="tx2"/>
                </a:solidFill>
              </a:rPr>
              <a:t>Dashboard, only GitHub selected (10 results)</a:t>
            </a:r>
            <a:endParaRPr lang="en-US" sz="1000" dirty="0"/>
          </a:p>
        </p:txBody>
      </p:sp>
      <p:sp>
        <p:nvSpPr>
          <p:cNvPr id="9" name="dash screenshot frame"/>
          <p:cNvSpPr/>
          <p:nvPr/>
        </p:nvSpPr>
        <p:spPr>
          <a:xfrm>
            <a:off x="4718304" y="1261872"/>
            <a:ext cx="4005072" cy="2284857"/>
          </a:xfrm>
          <a:prstGeom prst="roundRect">
            <a:avLst>
              <a:gd name="adj" fmla="val 3202"/>
            </a:avLst>
          </a:prstGeom>
          <a:solidFill>
            <a:srgbClr val="FFFFFF"/>
          </a:solidFill>
          <a:ln w="9525">
            <a:solidFill>
              <a:srgbClr val="D9DCE5"/>
            </a:solidFill>
            <a:prstDash val="solid"/>
          </a:ln>
          <a:effectLst>
            <a:outerShdw blurRad="101600" dist="25400" dir="5400000" algn="bl" rotWithShape="0">
              <a:srgbClr val="000000">
                <a:alpha val="14000"/>
              </a:srgbClr>
            </a:outerShdw>
          </a:effectLst>
        </p:spPr>
        <p:txBody>
          <a:bodyPr/>
          <a:lstStyle/>
          <a:p>
            <a:endParaRPr lang="en-US"/>
          </a:p>
        </p:txBody>
      </p:sp>
      <p:pic>
        <p:nvPicPr>
          <p:cNvPr id="10" name="dash screenshot" descr="GitHub content in the dashboard"/>
          <p:cNvPicPr>
            <a:picLocks noChangeAspect="1"/>
          </p:cNvPicPr>
          <p:nvPr/>
        </p:nvPicPr>
        <p:blipFill>
          <a:blip r:embed="rId5"/>
          <a:stretch>
            <a:fillRect/>
          </a:stretch>
        </p:blipFill>
        <p:spPr>
          <a:xfrm>
            <a:off x="4754880" y="1298448"/>
            <a:ext cx="3931920" cy="2211705"/>
          </a:xfrm>
          <a:prstGeom prst="rect">
            <a:avLst/>
          </a:prstGeom>
        </p:spPr>
      </p:pic>
      <p:sp>
        <p:nvSpPr>
          <p:cNvPr id="11" name="fact card 0"/>
          <p:cNvSpPr/>
          <p:nvPr/>
        </p:nvSpPr>
        <p:spPr>
          <a:xfrm>
            <a:off x="457200" y="3749040"/>
            <a:ext cx="2651760" cy="868680"/>
          </a:xfrm>
          <a:prstGeom prst="roundRect">
            <a:avLst>
              <a:gd name="adj" fmla="val 8421"/>
            </a:avLst>
          </a:prstGeom>
          <a:solidFill>
            <a:srgbClr val="F3F4F8"/>
          </a:solidFill>
          <a:ln w="12700">
            <a:solidFill>
              <a:srgbClr val="F3F4F8"/>
            </a:solidFill>
            <a:prstDash val="solid"/>
          </a:ln>
        </p:spPr>
        <p:txBody>
          <a:bodyPr/>
          <a:lstStyle/>
          <a:p>
            <a:endParaRPr lang="en-US"/>
          </a:p>
        </p:txBody>
      </p:sp>
      <p:sp>
        <p:nvSpPr>
          <p:cNvPr id="12" name="fact 0"/>
          <p:cNvSpPr txBox="1"/>
          <p:nvPr/>
        </p:nvSpPr>
        <p:spPr>
          <a:xfrm>
            <a:off x="594360" y="3794760"/>
            <a:ext cx="2377440" cy="777240"/>
          </a:xfrm>
          <a:prstGeom prst="rect">
            <a:avLst/>
          </a:prstGeom>
          <a:noFill/>
          <a:ln/>
        </p:spPr>
        <p:txBody>
          <a:bodyPr wrap="square" lIns="0" tIns="0" rIns="0" bIns="0" rtlCol="0" anchor="ctr"/>
          <a:lstStyle/>
          <a:p>
            <a:pPr marL="0" indent="0">
              <a:buNone/>
            </a:pPr>
            <a:r>
              <a:rPr lang="en-US" sz="1100" dirty="0">
                <a:solidFill>
                  <a:schemeClr val="tx1"/>
                </a:solidFill>
              </a:rPr>
              <a:t>10 issues with daily dealership tasks and labels</a:t>
            </a:r>
            <a:endParaRPr lang="en-US" sz="1100" dirty="0"/>
          </a:p>
        </p:txBody>
      </p:sp>
      <p:sp>
        <p:nvSpPr>
          <p:cNvPr id="13" name="fact card 1"/>
          <p:cNvSpPr/>
          <p:nvPr/>
        </p:nvSpPr>
        <p:spPr>
          <a:xfrm>
            <a:off x="3264408" y="3749040"/>
            <a:ext cx="2651760" cy="868680"/>
          </a:xfrm>
          <a:prstGeom prst="roundRect">
            <a:avLst>
              <a:gd name="adj" fmla="val 8421"/>
            </a:avLst>
          </a:prstGeom>
          <a:solidFill>
            <a:srgbClr val="F3F4F8"/>
          </a:solidFill>
          <a:ln w="12700">
            <a:solidFill>
              <a:srgbClr val="F3F4F8"/>
            </a:solidFill>
            <a:prstDash val="solid"/>
          </a:ln>
        </p:spPr>
        <p:txBody>
          <a:bodyPr/>
          <a:lstStyle/>
          <a:p>
            <a:endParaRPr lang="en-US"/>
          </a:p>
        </p:txBody>
      </p:sp>
      <p:sp>
        <p:nvSpPr>
          <p:cNvPr id="14" name="fact 1"/>
          <p:cNvSpPr txBox="1"/>
          <p:nvPr/>
        </p:nvSpPr>
        <p:spPr>
          <a:xfrm>
            <a:off x="3401568" y="3794760"/>
            <a:ext cx="2377440" cy="777240"/>
          </a:xfrm>
          <a:prstGeom prst="rect">
            <a:avLst/>
          </a:prstGeom>
          <a:noFill/>
          <a:ln/>
        </p:spPr>
        <p:txBody>
          <a:bodyPr wrap="square" lIns="0" tIns="0" rIns="0" bIns="0" rtlCol="0" anchor="ctr"/>
          <a:lstStyle/>
          <a:p>
            <a:pPr marL="0" indent="0">
              <a:buNone/>
            </a:pPr>
            <a:r>
              <a:rPr lang="en-US" sz="1100" dirty="0">
                <a:solidFill>
                  <a:schemeClr val="tx1"/>
                </a:solidFill>
              </a:rPr>
              <a:t>Connected with GitHub's official MCP server and a personal access token</a:t>
            </a:r>
            <a:endParaRPr lang="en-US" sz="1100" dirty="0"/>
          </a:p>
        </p:txBody>
      </p:sp>
      <p:sp>
        <p:nvSpPr>
          <p:cNvPr id="15" name="fact card 2"/>
          <p:cNvSpPr/>
          <p:nvPr/>
        </p:nvSpPr>
        <p:spPr>
          <a:xfrm>
            <a:off x="6071616" y="3749040"/>
            <a:ext cx="2651760" cy="868680"/>
          </a:xfrm>
          <a:prstGeom prst="roundRect">
            <a:avLst>
              <a:gd name="adj" fmla="val 8421"/>
            </a:avLst>
          </a:prstGeom>
          <a:solidFill>
            <a:srgbClr val="F3F4F8"/>
          </a:solidFill>
          <a:ln w="12700">
            <a:solidFill>
              <a:srgbClr val="F3F4F8"/>
            </a:solidFill>
            <a:prstDash val="solid"/>
          </a:ln>
        </p:spPr>
        <p:txBody>
          <a:bodyPr/>
          <a:lstStyle/>
          <a:p>
            <a:endParaRPr lang="en-US"/>
          </a:p>
        </p:txBody>
      </p:sp>
      <p:sp>
        <p:nvSpPr>
          <p:cNvPr id="16" name="fact 2"/>
          <p:cNvSpPr txBox="1"/>
          <p:nvPr/>
        </p:nvSpPr>
        <p:spPr>
          <a:xfrm>
            <a:off x="6208776" y="3794760"/>
            <a:ext cx="2377440" cy="777240"/>
          </a:xfrm>
          <a:prstGeom prst="rect">
            <a:avLst/>
          </a:prstGeom>
          <a:noFill/>
          <a:ln/>
        </p:spPr>
        <p:txBody>
          <a:bodyPr wrap="square" lIns="0" tIns="0" rIns="0" bIns="0" rtlCol="0" anchor="ctr"/>
          <a:lstStyle/>
          <a:p>
            <a:pPr marL="0" indent="0">
              <a:buNone/>
            </a:pPr>
            <a:r>
              <a:rPr lang="en-US" sz="1100" dirty="0">
                <a:solidFill>
                  <a:schemeClr val="tx1"/>
                </a:solidFill>
              </a:rPr>
              <a:t>Each issue saved as a JSON file with title, state, labels, author and dates</a:t>
            </a:r>
            <a:endParaRPr lang="en-US" sz="1100" dirty="0"/>
          </a:p>
        </p:txBody>
      </p:sp>
      <p:sp>
        <p:nvSpPr>
          <p:cNvPr id="25" name="Slide Number Placeholder 0"/>
          <p:cNvSpPr>
            <a:spLocks noGrp="1"/>
          </p:cNvSpPr>
          <p:nvPr>
            <p:ph type="sldNum" sz="quarter" idx="4294967295"/>
          </p:nvPr>
        </p:nvSpPr>
        <p:spPr>
          <a:xfrm>
            <a:off x="8321040" y="4828032"/>
            <a:ext cx="36576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100" dirty="0">
                <a:solidFill>
                  <a:schemeClr val="accent1"/>
                </a:solidFill>
              </a:rPr>
              <a:t>SERVICE 3 OF 4</a:t>
            </a:r>
            <a:endParaRPr lang="en-US" sz="1100" dirty="0"/>
          </a:p>
        </p:txBody>
      </p:sp>
      <p:sp>
        <p:nvSpPr>
          <p:cNvPr id="3" name="Text 0"/>
          <p:cNvSpPr>
            <a:spLocks noGrp="1"/>
          </p:cNvSpPr>
          <p:nvPr>
            <p:ph type="title" idx="101" hasCustomPrompt="1"/>
          </p:nvPr>
        </p:nvSpPr>
        <p:spPr>
          <a:xfrm>
            <a:off x="457200" y="475488"/>
            <a:ext cx="8229600" cy="54864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Notion: original data vs. dashboard</a:t>
            </a:r>
            <a:endParaRPr lang="en-US" sz="2600" dirty="0"/>
          </a:p>
        </p:txBody>
      </p:sp>
      <p:pic>
        <p:nvPicPr>
          <p:cNvPr id="4" name="Notion logo" descr="preencoded.png"/>
          <p:cNvPicPr>
            <a:picLocks noChangeAspect="1"/>
          </p:cNvPicPr>
          <p:nvPr/>
        </p:nvPicPr>
        <p:blipFill>
          <a:blip r:embed="rId3"/>
          <a:stretch>
            <a:fillRect/>
          </a:stretch>
        </p:blipFill>
        <p:spPr>
          <a:xfrm>
            <a:off x="8229600" y="411480"/>
            <a:ext cx="457200" cy="457200"/>
          </a:xfrm>
          <a:prstGeom prst="rect">
            <a:avLst/>
          </a:prstGeom>
        </p:spPr>
      </p:pic>
      <p:sp>
        <p:nvSpPr>
          <p:cNvPr id="5" name="orig caption"/>
          <p:cNvSpPr txBox="1"/>
          <p:nvPr/>
        </p:nvSpPr>
        <p:spPr>
          <a:xfrm>
            <a:off x="457200" y="1024128"/>
            <a:ext cx="3931920" cy="228600"/>
          </a:xfrm>
          <a:prstGeom prst="rect">
            <a:avLst/>
          </a:prstGeom>
          <a:noFill/>
          <a:ln/>
        </p:spPr>
        <p:txBody>
          <a:bodyPr wrap="square" lIns="0" tIns="0" rIns="0" bIns="0" rtlCol="0" anchor="ctr"/>
          <a:lstStyle/>
          <a:p>
            <a:pPr marL="0" indent="0">
              <a:buNone/>
            </a:pPr>
            <a:r>
              <a:rPr lang="en-US" sz="1000" b="1" dirty="0">
                <a:solidFill>
                  <a:schemeClr val="tx1"/>
                </a:solidFill>
              </a:rPr>
              <a:t>ORIGINAL  </a:t>
            </a:r>
            <a:r>
              <a:rPr lang="en-US" sz="1000" dirty="0">
                <a:solidFill>
                  <a:schemeClr val="tx2"/>
                </a:solidFill>
              </a:rPr>
              <a:t>“Dealership Test” database</a:t>
            </a:r>
            <a:endParaRPr lang="en-US" sz="1000" dirty="0"/>
          </a:p>
        </p:txBody>
      </p:sp>
      <p:sp>
        <p:nvSpPr>
          <p:cNvPr id="6" name="orig screenshot frame"/>
          <p:cNvSpPr/>
          <p:nvPr/>
        </p:nvSpPr>
        <p:spPr>
          <a:xfrm>
            <a:off x="420624" y="1261872"/>
            <a:ext cx="4005072" cy="2284857"/>
          </a:xfrm>
          <a:prstGeom prst="roundRect">
            <a:avLst>
              <a:gd name="adj" fmla="val 3202"/>
            </a:avLst>
          </a:prstGeom>
          <a:solidFill>
            <a:srgbClr val="FFFFFF"/>
          </a:solidFill>
          <a:ln w="9525">
            <a:solidFill>
              <a:srgbClr val="D9DCE5"/>
            </a:solidFill>
            <a:prstDash val="solid"/>
          </a:ln>
          <a:effectLst>
            <a:outerShdw blurRad="101600" dist="25400" dir="5400000" algn="bl" rotWithShape="0">
              <a:srgbClr val="000000">
                <a:alpha val="14000"/>
              </a:srgbClr>
            </a:outerShdw>
          </a:effectLst>
        </p:spPr>
        <p:txBody>
          <a:bodyPr/>
          <a:lstStyle/>
          <a:p>
            <a:endParaRPr lang="en-US"/>
          </a:p>
        </p:txBody>
      </p:sp>
      <p:pic>
        <p:nvPicPr>
          <p:cNvPr id="7" name="orig screenshot" descr="Notion original test content"/>
          <p:cNvPicPr>
            <a:picLocks noChangeAspect="1"/>
          </p:cNvPicPr>
          <p:nvPr/>
        </p:nvPicPr>
        <p:blipFill>
          <a:blip r:embed="rId4"/>
          <a:stretch>
            <a:fillRect/>
          </a:stretch>
        </p:blipFill>
        <p:spPr>
          <a:xfrm>
            <a:off x="457200" y="1298448"/>
            <a:ext cx="3931920" cy="2211705"/>
          </a:xfrm>
          <a:prstGeom prst="rect">
            <a:avLst/>
          </a:prstGeom>
        </p:spPr>
      </p:pic>
      <p:sp>
        <p:nvSpPr>
          <p:cNvPr id="8" name="dash caption"/>
          <p:cNvSpPr txBox="1"/>
          <p:nvPr/>
        </p:nvSpPr>
        <p:spPr>
          <a:xfrm>
            <a:off x="4754880" y="1024128"/>
            <a:ext cx="3931920" cy="228600"/>
          </a:xfrm>
          <a:prstGeom prst="rect">
            <a:avLst/>
          </a:prstGeom>
          <a:noFill/>
          <a:ln/>
        </p:spPr>
        <p:txBody>
          <a:bodyPr wrap="square" lIns="0" tIns="0" rIns="0" bIns="0" rtlCol="0" anchor="ctr"/>
          <a:lstStyle/>
          <a:p>
            <a:pPr marL="0" indent="0">
              <a:buNone/>
            </a:pPr>
            <a:r>
              <a:rPr lang="en-US" sz="1000" b="1" dirty="0">
                <a:solidFill>
                  <a:schemeClr val="accent1"/>
                </a:solidFill>
              </a:rPr>
              <a:t>IN THE DASHBOARD  </a:t>
            </a:r>
            <a:r>
              <a:rPr lang="en-US" sz="1000" dirty="0">
                <a:solidFill>
                  <a:schemeClr val="tx2"/>
                </a:solidFill>
              </a:rPr>
              <a:t>Dashboard, only Notion selected (10 results)</a:t>
            </a:r>
            <a:endParaRPr lang="en-US" sz="1000" dirty="0"/>
          </a:p>
        </p:txBody>
      </p:sp>
      <p:sp>
        <p:nvSpPr>
          <p:cNvPr id="9" name="dash screenshot frame"/>
          <p:cNvSpPr/>
          <p:nvPr/>
        </p:nvSpPr>
        <p:spPr>
          <a:xfrm>
            <a:off x="4718304" y="1261872"/>
            <a:ext cx="4005072" cy="2284857"/>
          </a:xfrm>
          <a:prstGeom prst="roundRect">
            <a:avLst>
              <a:gd name="adj" fmla="val 3202"/>
            </a:avLst>
          </a:prstGeom>
          <a:solidFill>
            <a:srgbClr val="FFFFFF"/>
          </a:solidFill>
          <a:ln w="9525">
            <a:solidFill>
              <a:srgbClr val="D9DCE5"/>
            </a:solidFill>
            <a:prstDash val="solid"/>
          </a:ln>
          <a:effectLst>
            <a:outerShdw blurRad="101600" dist="25400" dir="5400000" algn="bl" rotWithShape="0">
              <a:srgbClr val="000000">
                <a:alpha val="14000"/>
              </a:srgbClr>
            </a:outerShdw>
          </a:effectLst>
        </p:spPr>
        <p:txBody>
          <a:bodyPr/>
          <a:lstStyle/>
          <a:p>
            <a:endParaRPr lang="en-US"/>
          </a:p>
        </p:txBody>
      </p:sp>
      <p:pic>
        <p:nvPicPr>
          <p:cNvPr id="10" name="dash screenshot" descr="Notion content in the dashboard"/>
          <p:cNvPicPr>
            <a:picLocks noChangeAspect="1"/>
          </p:cNvPicPr>
          <p:nvPr/>
        </p:nvPicPr>
        <p:blipFill>
          <a:blip r:embed="rId5"/>
          <a:stretch>
            <a:fillRect/>
          </a:stretch>
        </p:blipFill>
        <p:spPr>
          <a:xfrm>
            <a:off x="4754880" y="1298448"/>
            <a:ext cx="3931920" cy="2211705"/>
          </a:xfrm>
          <a:prstGeom prst="rect">
            <a:avLst/>
          </a:prstGeom>
        </p:spPr>
      </p:pic>
      <p:sp>
        <p:nvSpPr>
          <p:cNvPr id="11" name="fact card 0"/>
          <p:cNvSpPr/>
          <p:nvPr/>
        </p:nvSpPr>
        <p:spPr>
          <a:xfrm>
            <a:off x="457200" y="3749040"/>
            <a:ext cx="2651760" cy="868680"/>
          </a:xfrm>
          <a:prstGeom prst="roundRect">
            <a:avLst>
              <a:gd name="adj" fmla="val 8421"/>
            </a:avLst>
          </a:prstGeom>
          <a:solidFill>
            <a:srgbClr val="F3F4F8"/>
          </a:solidFill>
          <a:ln w="12700">
            <a:solidFill>
              <a:srgbClr val="F3F4F8"/>
            </a:solidFill>
            <a:prstDash val="solid"/>
          </a:ln>
        </p:spPr>
        <p:txBody>
          <a:bodyPr/>
          <a:lstStyle/>
          <a:p>
            <a:endParaRPr lang="en-US"/>
          </a:p>
        </p:txBody>
      </p:sp>
      <p:sp>
        <p:nvSpPr>
          <p:cNvPr id="12" name="fact 0"/>
          <p:cNvSpPr txBox="1"/>
          <p:nvPr/>
        </p:nvSpPr>
        <p:spPr>
          <a:xfrm>
            <a:off x="594360" y="3794760"/>
            <a:ext cx="2377440" cy="777240"/>
          </a:xfrm>
          <a:prstGeom prst="rect">
            <a:avLst/>
          </a:prstGeom>
          <a:noFill/>
          <a:ln/>
        </p:spPr>
        <p:txBody>
          <a:bodyPr wrap="square" lIns="0" tIns="0" rIns="0" bIns="0" rtlCol="0" anchor="ctr"/>
          <a:lstStyle/>
          <a:p>
            <a:pPr marL="0" indent="0">
              <a:buNone/>
            </a:pPr>
            <a:r>
              <a:rPr lang="en-US" sz="1100" dirty="0">
                <a:solidFill>
                  <a:schemeClr val="tx1"/>
                </a:solidFill>
              </a:rPr>
              <a:t>10 lead follow-up pages: brand, lead source, stage, follow-up date</a:t>
            </a:r>
            <a:endParaRPr lang="en-US" sz="1100" dirty="0"/>
          </a:p>
        </p:txBody>
      </p:sp>
      <p:sp>
        <p:nvSpPr>
          <p:cNvPr id="13" name="fact card 1"/>
          <p:cNvSpPr/>
          <p:nvPr/>
        </p:nvSpPr>
        <p:spPr>
          <a:xfrm>
            <a:off x="3264408" y="3749040"/>
            <a:ext cx="2651760" cy="868680"/>
          </a:xfrm>
          <a:prstGeom prst="roundRect">
            <a:avLst>
              <a:gd name="adj" fmla="val 8421"/>
            </a:avLst>
          </a:prstGeom>
          <a:solidFill>
            <a:srgbClr val="F3F4F8"/>
          </a:solidFill>
          <a:ln w="12700">
            <a:solidFill>
              <a:srgbClr val="F3F4F8"/>
            </a:solidFill>
            <a:prstDash val="solid"/>
          </a:ln>
        </p:spPr>
        <p:txBody>
          <a:bodyPr/>
          <a:lstStyle/>
          <a:p>
            <a:endParaRPr lang="en-US"/>
          </a:p>
        </p:txBody>
      </p:sp>
      <p:sp>
        <p:nvSpPr>
          <p:cNvPr id="14" name="fact 1"/>
          <p:cNvSpPr txBox="1"/>
          <p:nvPr/>
        </p:nvSpPr>
        <p:spPr>
          <a:xfrm>
            <a:off x="3401568" y="3794760"/>
            <a:ext cx="2377440" cy="777240"/>
          </a:xfrm>
          <a:prstGeom prst="rect">
            <a:avLst/>
          </a:prstGeom>
          <a:noFill/>
          <a:ln/>
        </p:spPr>
        <p:txBody>
          <a:bodyPr wrap="square" lIns="0" tIns="0" rIns="0" bIns="0" rtlCol="0" anchor="ctr"/>
          <a:lstStyle/>
          <a:p>
            <a:pPr marL="0" indent="0">
              <a:buNone/>
            </a:pPr>
            <a:r>
              <a:rPr lang="en-US" sz="1100" dirty="0">
                <a:solidFill>
                  <a:schemeClr val="tx1"/>
                </a:solidFill>
              </a:rPr>
              <a:t>Connected with Notion's official MCP server, signing in with OAuth</a:t>
            </a:r>
            <a:endParaRPr lang="en-US" sz="1100" dirty="0"/>
          </a:p>
        </p:txBody>
      </p:sp>
      <p:sp>
        <p:nvSpPr>
          <p:cNvPr id="15" name="fact card 2"/>
          <p:cNvSpPr/>
          <p:nvPr/>
        </p:nvSpPr>
        <p:spPr>
          <a:xfrm>
            <a:off x="6071616" y="3749040"/>
            <a:ext cx="2651760" cy="868680"/>
          </a:xfrm>
          <a:prstGeom prst="roundRect">
            <a:avLst>
              <a:gd name="adj" fmla="val 8421"/>
            </a:avLst>
          </a:prstGeom>
          <a:solidFill>
            <a:srgbClr val="F3F4F8"/>
          </a:solidFill>
          <a:ln w="12700">
            <a:solidFill>
              <a:srgbClr val="F3F4F8"/>
            </a:solidFill>
            <a:prstDash val="solid"/>
          </a:ln>
        </p:spPr>
        <p:txBody>
          <a:bodyPr/>
          <a:lstStyle/>
          <a:p>
            <a:endParaRPr lang="en-US"/>
          </a:p>
        </p:txBody>
      </p:sp>
      <p:sp>
        <p:nvSpPr>
          <p:cNvPr id="16" name="fact 2"/>
          <p:cNvSpPr txBox="1"/>
          <p:nvPr/>
        </p:nvSpPr>
        <p:spPr>
          <a:xfrm>
            <a:off x="6208776" y="3794760"/>
            <a:ext cx="2377440" cy="777240"/>
          </a:xfrm>
          <a:prstGeom prst="rect">
            <a:avLst/>
          </a:prstGeom>
          <a:noFill/>
          <a:ln/>
        </p:spPr>
        <p:txBody>
          <a:bodyPr wrap="square" lIns="0" tIns="0" rIns="0" bIns="0" rtlCol="0" anchor="ctr"/>
          <a:lstStyle/>
          <a:p>
            <a:pPr marL="0" indent="0">
              <a:buNone/>
            </a:pPr>
            <a:r>
              <a:rPr lang="en-US" sz="1100" dirty="0">
                <a:solidFill>
                  <a:schemeClr val="tx1"/>
                </a:solidFill>
              </a:rPr>
              <a:t>Each page saved as Markdown, with its metadata in a YAML header</a:t>
            </a:r>
            <a:endParaRPr lang="en-US" sz="1100" dirty="0"/>
          </a:p>
        </p:txBody>
      </p:sp>
      <p:sp>
        <p:nvSpPr>
          <p:cNvPr id="25" name="Slide Number Placeholder 0"/>
          <p:cNvSpPr>
            <a:spLocks noGrp="1"/>
          </p:cNvSpPr>
          <p:nvPr>
            <p:ph type="sldNum" sz="quarter" idx="4294967295"/>
          </p:nvPr>
        </p:nvSpPr>
        <p:spPr>
          <a:xfrm>
            <a:off x="8321040" y="4828032"/>
            <a:ext cx="36576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100" dirty="0">
                <a:solidFill>
                  <a:schemeClr val="accent1"/>
                </a:solidFill>
              </a:rPr>
              <a:t>SERVICE 4 OF 4</a:t>
            </a:r>
            <a:endParaRPr lang="en-US" sz="1100" dirty="0"/>
          </a:p>
        </p:txBody>
      </p:sp>
      <p:sp>
        <p:nvSpPr>
          <p:cNvPr id="3" name="Text 0"/>
          <p:cNvSpPr>
            <a:spLocks noGrp="1"/>
          </p:cNvSpPr>
          <p:nvPr>
            <p:ph type="title" idx="101" hasCustomPrompt="1"/>
          </p:nvPr>
        </p:nvSpPr>
        <p:spPr>
          <a:xfrm>
            <a:off x="457200" y="475488"/>
            <a:ext cx="8229600" cy="54864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Supabase: original data vs. dashboard</a:t>
            </a:r>
            <a:endParaRPr lang="en-US" sz="2600" dirty="0"/>
          </a:p>
        </p:txBody>
      </p:sp>
      <p:pic>
        <p:nvPicPr>
          <p:cNvPr id="4" name="Supabase logo" descr="preencoded.png"/>
          <p:cNvPicPr>
            <a:picLocks noChangeAspect="1"/>
          </p:cNvPicPr>
          <p:nvPr/>
        </p:nvPicPr>
        <p:blipFill>
          <a:blip r:embed="rId3"/>
          <a:stretch>
            <a:fillRect/>
          </a:stretch>
        </p:blipFill>
        <p:spPr>
          <a:xfrm>
            <a:off x="8229600" y="411480"/>
            <a:ext cx="457200" cy="457200"/>
          </a:xfrm>
          <a:prstGeom prst="rect">
            <a:avLst/>
          </a:prstGeom>
        </p:spPr>
      </p:pic>
      <p:sp>
        <p:nvSpPr>
          <p:cNvPr id="5" name="orig caption"/>
          <p:cNvSpPr txBox="1"/>
          <p:nvPr/>
        </p:nvSpPr>
        <p:spPr>
          <a:xfrm>
            <a:off x="457200" y="1024128"/>
            <a:ext cx="3931920" cy="228600"/>
          </a:xfrm>
          <a:prstGeom prst="rect">
            <a:avLst/>
          </a:prstGeom>
          <a:noFill/>
          <a:ln/>
        </p:spPr>
        <p:txBody>
          <a:bodyPr wrap="square" lIns="0" tIns="0" rIns="0" bIns="0" rtlCol="0" anchor="ctr"/>
          <a:lstStyle/>
          <a:p>
            <a:pPr marL="0" indent="0">
              <a:buNone/>
            </a:pPr>
            <a:r>
              <a:rPr lang="en-US" sz="1000" b="1" dirty="0">
                <a:solidFill>
                  <a:schemeClr val="tx1"/>
                </a:solidFill>
              </a:rPr>
              <a:t>ORIGINAL  </a:t>
            </a:r>
            <a:r>
              <a:rPr lang="en-US" sz="1000" dirty="0">
                <a:solidFill>
                  <a:schemeClr val="tx2"/>
                </a:solidFill>
              </a:rPr>
              <a:t>Table Editor: clients_sales, 10 rows</a:t>
            </a:r>
            <a:endParaRPr lang="en-US" sz="1000" dirty="0"/>
          </a:p>
        </p:txBody>
      </p:sp>
      <p:sp>
        <p:nvSpPr>
          <p:cNvPr id="6" name="orig screenshot frame"/>
          <p:cNvSpPr/>
          <p:nvPr/>
        </p:nvSpPr>
        <p:spPr>
          <a:xfrm>
            <a:off x="420624" y="1261872"/>
            <a:ext cx="4005072" cy="2284857"/>
          </a:xfrm>
          <a:prstGeom prst="roundRect">
            <a:avLst>
              <a:gd name="adj" fmla="val 3202"/>
            </a:avLst>
          </a:prstGeom>
          <a:solidFill>
            <a:srgbClr val="FFFFFF"/>
          </a:solidFill>
          <a:ln w="9525">
            <a:solidFill>
              <a:srgbClr val="D9DCE5"/>
            </a:solidFill>
            <a:prstDash val="solid"/>
          </a:ln>
          <a:effectLst>
            <a:outerShdw blurRad="101600" dist="25400" dir="5400000" algn="bl" rotWithShape="0">
              <a:srgbClr val="000000">
                <a:alpha val="14000"/>
              </a:srgbClr>
            </a:outerShdw>
          </a:effectLst>
        </p:spPr>
        <p:txBody>
          <a:bodyPr/>
          <a:lstStyle/>
          <a:p>
            <a:endParaRPr lang="en-US"/>
          </a:p>
        </p:txBody>
      </p:sp>
      <p:pic>
        <p:nvPicPr>
          <p:cNvPr id="7" name="orig screenshot" descr="Supabase original test content"/>
          <p:cNvPicPr>
            <a:picLocks noChangeAspect="1"/>
          </p:cNvPicPr>
          <p:nvPr/>
        </p:nvPicPr>
        <p:blipFill>
          <a:blip r:embed="rId4"/>
          <a:stretch>
            <a:fillRect/>
          </a:stretch>
        </p:blipFill>
        <p:spPr>
          <a:xfrm>
            <a:off x="457200" y="1298448"/>
            <a:ext cx="3931920" cy="2211705"/>
          </a:xfrm>
          <a:prstGeom prst="rect">
            <a:avLst/>
          </a:prstGeom>
        </p:spPr>
      </p:pic>
      <p:sp>
        <p:nvSpPr>
          <p:cNvPr id="8" name="dash caption"/>
          <p:cNvSpPr txBox="1"/>
          <p:nvPr/>
        </p:nvSpPr>
        <p:spPr>
          <a:xfrm>
            <a:off x="4754880" y="1024128"/>
            <a:ext cx="3931920" cy="228600"/>
          </a:xfrm>
          <a:prstGeom prst="rect">
            <a:avLst/>
          </a:prstGeom>
          <a:noFill/>
          <a:ln/>
        </p:spPr>
        <p:txBody>
          <a:bodyPr wrap="square" lIns="0" tIns="0" rIns="0" bIns="0" rtlCol="0" anchor="ctr"/>
          <a:lstStyle/>
          <a:p>
            <a:pPr marL="0" indent="0">
              <a:buNone/>
            </a:pPr>
            <a:r>
              <a:rPr lang="en-US" sz="1000" b="1" dirty="0">
                <a:solidFill>
                  <a:schemeClr val="accent1"/>
                </a:solidFill>
              </a:rPr>
              <a:t>IN THE DASHBOARD  </a:t>
            </a:r>
            <a:r>
              <a:rPr lang="en-US" sz="1000" dirty="0">
                <a:solidFill>
                  <a:schemeClr val="tx2"/>
                </a:solidFill>
              </a:rPr>
              <a:t>Dashboard, only Supabase selected (10 results)</a:t>
            </a:r>
            <a:endParaRPr lang="en-US" sz="1000" dirty="0"/>
          </a:p>
        </p:txBody>
      </p:sp>
      <p:sp>
        <p:nvSpPr>
          <p:cNvPr id="9" name="dash screenshot frame"/>
          <p:cNvSpPr/>
          <p:nvPr/>
        </p:nvSpPr>
        <p:spPr>
          <a:xfrm>
            <a:off x="4718304" y="1261872"/>
            <a:ext cx="4005072" cy="2284857"/>
          </a:xfrm>
          <a:prstGeom prst="roundRect">
            <a:avLst>
              <a:gd name="adj" fmla="val 3202"/>
            </a:avLst>
          </a:prstGeom>
          <a:solidFill>
            <a:srgbClr val="FFFFFF"/>
          </a:solidFill>
          <a:ln w="9525">
            <a:solidFill>
              <a:srgbClr val="D9DCE5"/>
            </a:solidFill>
            <a:prstDash val="solid"/>
          </a:ln>
          <a:effectLst>
            <a:outerShdw blurRad="101600" dist="25400" dir="5400000" algn="bl" rotWithShape="0">
              <a:srgbClr val="000000">
                <a:alpha val="14000"/>
              </a:srgbClr>
            </a:outerShdw>
          </a:effectLst>
        </p:spPr>
        <p:txBody>
          <a:bodyPr/>
          <a:lstStyle/>
          <a:p>
            <a:endParaRPr lang="en-US"/>
          </a:p>
        </p:txBody>
      </p:sp>
      <p:pic>
        <p:nvPicPr>
          <p:cNvPr id="10" name="dash screenshot" descr="Supabase content in the dashboard"/>
          <p:cNvPicPr>
            <a:picLocks noChangeAspect="1"/>
          </p:cNvPicPr>
          <p:nvPr/>
        </p:nvPicPr>
        <p:blipFill>
          <a:blip r:embed="rId5"/>
          <a:stretch>
            <a:fillRect/>
          </a:stretch>
        </p:blipFill>
        <p:spPr>
          <a:xfrm>
            <a:off x="4754880" y="1298448"/>
            <a:ext cx="3931920" cy="2211705"/>
          </a:xfrm>
          <a:prstGeom prst="rect">
            <a:avLst/>
          </a:prstGeom>
        </p:spPr>
      </p:pic>
      <p:sp>
        <p:nvSpPr>
          <p:cNvPr id="11" name="fact card 0"/>
          <p:cNvSpPr/>
          <p:nvPr/>
        </p:nvSpPr>
        <p:spPr>
          <a:xfrm>
            <a:off x="457200" y="3749040"/>
            <a:ext cx="2651760" cy="868680"/>
          </a:xfrm>
          <a:prstGeom prst="roundRect">
            <a:avLst>
              <a:gd name="adj" fmla="val 8421"/>
            </a:avLst>
          </a:prstGeom>
          <a:solidFill>
            <a:srgbClr val="F3F4F8"/>
          </a:solidFill>
          <a:ln w="12700">
            <a:solidFill>
              <a:srgbClr val="F3F4F8"/>
            </a:solidFill>
            <a:prstDash val="solid"/>
          </a:ln>
        </p:spPr>
        <p:txBody>
          <a:bodyPr/>
          <a:lstStyle/>
          <a:p>
            <a:endParaRPr lang="en-US"/>
          </a:p>
        </p:txBody>
      </p:sp>
      <p:sp>
        <p:nvSpPr>
          <p:cNvPr id="12" name="fact 0"/>
          <p:cNvSpPr txBox="1"/>
          <p:nvPr/>
        </p:nvSpPr>
        <p:spPr>
          <a:xfrm>
            <a:off x="594360" y="3794760"/>
            <a:ext cx="2377440" cy="777240"/>
          </a:xfrm>
          <a:prstGeom prst="rect">
            <a:avLst/>
          </a:prstGeom>
          <a:noFill/>
          <a:ln/>
        </p:spPr>
        <p:txBody>
          <a:bodyPr wrap="square" lIns="0" tIns="0" rIns="0" bIns="0" rtlCol="0" anchor="ctr"/>
          <a:lstStyle/>
          <a:p>
            <a:pPr marL="0" indent="0">
              <a:buNone/>
            </a:pPr>
            <a:r>
              <a:rPr lang="en-US" sz="1100" dirty="0">
                <a:solidFill>
                  <a:schemeClr val="tx1"/>
                </a:solidFill>
              </a:rPr>
              <a:t>10 rows: id, client name and motorcycle (joined from the catalog)</a:t>
            </a:r>
            <a:endParaRPr lang="en-US" sz="1100" dirty="0"/>
          </a:p>
        </p:txBody>
      </p:sp>
      <p:sp>
        <p:nvSpPr>
          <p:cNvPr id="13" name="fact card 1"/>
          <p:cNvSpPr/>
          <p:nvPr/>
        </p:nvSpPr>
        <p:spPr>
          <a:xfrm>
            <a:off x="3264408" y="3749040"/>
            <a:ext cx="2651760" cy="868680"/>
          </a:xfrm>
          <a:prstGeom prst="roundRect">
            <a:avLst>
              <a:gd name="adj" fmla="val 8421"/>
            </a:avLst>
          </a:prstGeom>
          <a:solidFill>
            <a:srgbClr val="F3F4F8"/>
          </a:solidFill>
          <a:ln w="12700">
            <a:solidFill>
              <a:srgbClr val="F3F4F8"/>
            </a:solidFill>
            <a:prstDash val="solid"/>
          </a:ln>
        </p:spPr>
        <p:txBody>
          <a:bodyPr/>
          <a:lstStyle/>
          <a:p>
            <a:endParaRPr lang="en-US"/>
          </a:p>
        </p:txBody>
      </p:sp>
      <p:sp>
        <p:nvSpPr>
          <p:cNvPr id="14" name="fact 1"/>
          <p:cNvSpPr txBox="1"/>
          <p:nvPr/>
        </p:nvSpPr>
        <p:spPr>
          <a:xfrm>
            <a:off x="3401568" y="3794760"/>
            <a:ext cx="2377440" cy="777240"/>
          </a:xfrm>
          <a:prstGeom prst="rect">
            <a:avLst/>
          </a:prstGeom>
          <a:noFill/>
          <a:ln/>
        </p:spPr>
        <p:txBody>
          <a:bodyPr wrap="square" lIns="0" tIns="0" rIns="0" bIns="0" rtlCol="0" anchor="ctr"/>
          <a:lstStyle/>
          <a:p>
            <a:pPr marL="0" indent="0">
              <a:buNone/>
            </a:pPr>
            <a:r>
              <a:rPr lang="en-US" sz="1100" dirty="0">
                <a:solidFill>
                  <a:schemeClr val="tx1"/>
                </a:solidFill>
              </a:rPr>
              <a:t>Connected with Supabase's official MCP server via OAuth, in read-only mode</a:t>
            </a:r>
            <a:endParaRPr lang="en-US" sz="1100" dirty="0"/>
          </a:p>
        </p:txBody>
      </p:sp>
      <p:sp>
        <p:nvSpPr>
          <p:cNvPr id="15" name="fact card 2"/>
          <p:cNvSpPr/>
          <p:nvPr/>
        </p:nvSpPr>
        <p:spPr>
          <a:xfrm>
            <a:off x="6071616" y="3749040"/>
            <a:ext cx="2651760" cy="868680"/>
          </a:xfrm>
          <a:prstGeom prst="roundRect">
            <a:avLst>
              <a:gd name="adj" fmla="val 8421"/>
            </a:avLst>
          </a:prstGeom>
          <a:solidFill>
            <a:srgbClr val="F3F4F8"/>
          </a:solidFill>
          <a:ln w="12700">
            <a:solidFill>
              <a:srgbClr val="F3F4F8"/>
            </a:solidFill>
            <a:prstDash val="solid"/>
          </a:ln>
        </p:spPr>
        <p:txBody>
          <a:bodyPr/>
          <a:lstStyle/>
          <a:p>
            <a:endParaRPr lang="en-US"/>
          </a:p>
        </p:txBody>
      </p:sp>
      <p:sp>
        <p:nvSpPr>
          <p:cNvPr id="16" name="fact 2"/>
          <p:cNvSpPr txBox="1"/>
          <p:nvPr/>
        </p:nvSpPr>
        <p:spPr>
          <a:xfrm>
            <a:off x="6208776" y="3794760"/>
            <a:ext cx="2377440" cy="777240"/>
          </a:xfrm>
          <a:prstGeom prst="rect">
            <a:avLst/>
          </a:prstGeom>
          <a:noFill/>
          <a:ln/>
        </p:spPr>
        <p:txBody>
          <a:bodyPr wrap="square" lIns="0" tIns="0" rIns="0" bIns="0" rtlCol="0" anchor="ctr"/>
          <a:lstStyle/>
          <a:p>
            <a:pPr marL="0" indent="0">
              <a:buNone/>
            </a:pPr>
            <a:r>
              <a:rPr lang="en-US" sz="1100" dirty="0">
                <a:solidFill>
                  <a:schemeClr val="tx1"/>
                </a:solidFill>
              </a:rPr>
              <a:t>The table saved as JSON and CSV, plus schema.json with the column types</a:t>
            </a:r>
            <a:endParaRPr lang="en-US" sz="1100" dirty="0"/>
          </a:p>
        </p:txBody>
      </p:sp>
      <p:sp>
        <p:nvSpPr>
          <p:cNvPr id="25" name="Slide Number Placeholder 0"/>
          <p:cNvSpPr>
            <a:spLocks noGrp="1"/>
          </p:cNvSpPr>
          <p:nvPr>
            <p:ph type="sldNum" sz="quarter" idx="4294967295"/>
          </p:nvPr>
        </p:nvSpPr>
        <p:spPr>
          <a:xfrm>
            <a:off x="8321040" y="4828032"/>
            <a:ext cx="36576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100" dirty="0">
                <a:solidFill>
                  <a:schemeClr val="accent1"/>
                </a:solidFill>
              </a:rPr>
              <a:t>LOCAL STORAGE FORMATS</a:t>
            </a:r>
            <a:endParaRPr lang="en-US" sz="1100" dirty="0"/>
          </a:p>
        </p:txBody>
      </p:sp>
      <p:sp>
        <p:nvSpPr>
          <p:cNvPr id="3" name="Text 0"/>
          <p:cNvSpPr>
            <a:spLocks noGrp="1"/>
          </p:cNvSpPr>
          <p:nvPr>
            <p:ph type="title" idx="101" hasCustomPrompt="1"/>
          </p:nvPr>
        </p:nvSpPr>
        <p:spPr>
          <a:xfrm>
            <a:off x="457200" y="475488"/>
            <a:ext cx="8229600" cy="54864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Each service gets the format that fits its data</a:t>
            </a:r>
            <a:endParaRPr lang="en-US" sz="2600" dirty="0"/>
          </a:p>
        </p:txBody>
      </p:sp>
      <p:graphicFrame>
        <p:nvGraphicFramePr>
          <p:cNvPr id="10" name="Formats table"/>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143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4023360">
                  <a:extLst>
                    <a:ext uri="{9D8B030D-6E8A-4147-A177-3AD203B41FA5}">
                      <a16:colId xmlns:a16="http://schemas.microsoft.com/office/drawing/2014/main" val="20003"/>
                    </a:ext>
                  </a:extLst>
                </a:gridCol>
              </a:tblGrid>
              <a:tr h="47548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Service</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141B3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Format</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141B3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File</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141B3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Why this format</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141B34"/>
                    </a:solidFill>
                  </a:tcPr>
                </a:tc>
                <a:extLst>
                  <a:ext uri="{0D108BD9-81ED-4DB2-BD59-A6C34878D82A}">
                    <a16:rowId xmlns:a16="http://schemas.microsoft.com/office/drawing/2014/main" val="10000"/>
                  </a:ext>
                </a:extLst>
              </a:tr>
              <a:tr h="475488">
                <a:tc>
                  <a:txBody>
                    <a:bodyPr/>
                    <a:lstStyle/>
                    <a:p>
                      <a:pPr marL="0" indent="0">
                        <a:buNone/>
                      </a:pPr>
                      <a:r>
                        <a:rPr lang="en-US" sz="1150" b="1" dirty="0">
                          <a:solidFill>
                            <a:srgbClr val="141B34"/>
                          </a:solidFill>
                          <a:latin typeface="Calibri" pitchFamily="34" charset="0"/>
                          <a:ea typeface="Calibri" pitchFamily="34" charset="-122"/>
                          <a:cs typeface="Calibri" pitchFamily="34" charset="-120"/>
                        </a:rPr>
                        <a:t>Gmail</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marL="0" indent="0">
                        <a:buNone/>
                      </a:pPr>
                      <a:r>
                        <a:rPr lang="en-US" sz="1150" b="1" dirty="0">
                          <a:solidFill>
                            <a:srgbClr val="F26B3A"/>
                          </a:solidFill>
                          <a:latin typeface="Calibri" pitchFamily="34" charset="0"/>
                          <a:ea typeface="Calibri" pitchFamily="34" charset="-122"/>
                          <a:cs typeface="Calibri" pitchFamily="34" charset="-120"/>
                        </a:rPr>
                        <a:t>JSON</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marL="0" indent="0">
                        <a:buNone/>
                      </a:pPr>
                      <a:r>
                        <a:rPr lang="en-US" sz="1150" dirty="0">
                          <a:solidFill>
                            <a:srgbClr val="141B34"/>
                          </a:solidFill>
                          <a:latin typeface="Calibri" pitchFamily="34" charset="0"/>
                          <a:ea typeface="Calibri" pitchFamily="34" charset="-122"/>
                          <a:cs typeface="Calibri" pitchFamily="34" charset="-120"/>
                        </a:rPr>
                        <a:t>one file per email</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marL="0" indent="0">
                        <a:buNone/>
                      </a:pPr>
                      <a:r>
                        <a:rPr lang="en-US" sz="1150" dirty="0">
                          <a:solidFill>
                            <a:srgbClr val="141B34"/>
                          </a:solidFill>
                          <a:latin typeface="Calibri" pitchFamily="34" charset="0"/>
                          <a:ea typeface="Calibri" pitchFamily="34" charset="-122"/>
                          <a:cs typeface="Calibri" pitchFamily="34" charset="-120"/>
                        </a:rPr>
                        <a:t>Short fields plus one long body; lists stay lists (to, labels)</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150" b="1" dirty="0">
                          <a:solidFill>
                            <a:srgbClr val="141B34"/>
                          </a:solidFill>
                          <a:latin typeface="Calibri" pitchFamily="34" charset="0"/>
                          <a:ea typeface="Calibri" pitchFamily="34" charset="-122"/>
                          <a:cs typeface="Calibri" pitchFamily="34" charset="-120"/>
                        </a:rPr>
                        <a:t>GitHub</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marL="0" indent="0">
                        <a:buNone/>
                      </a:pPr>
                      <a:r>
                        <a:rPr lang="en-US" sz="1150" b="1" dirty="0">
                          <a:solidFill>
                            <a:srgbClr val="F26B3A"/>
                          </a:solidFill>
                          <a:latin typeface="Calibri" pitchFamily="34" charset="0"/>
                          <a:ea typeface="Calibri" pitchFamily="34" charset="-122"/>
                          <a:cs typeface="Calibri" pitchFamily="34" charset="-120"/>
                        </a:rPr>
                        <a:t>JSON</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marL="0" indent="0">
                        <a:buNone/>
                      </a:pPr>
                      <a:r>
                        <a:rPr lang="en-US" sz="1150" dirty="0">
                          <a:solidFill>
                            <a:srgbClr val="141B34"/>
                          </a:solidFill>
                          <a:latin typeface="Calibri" pitchFamily="34" charset="0"/>
                          <a:ea typeface="Calibri" pitchFamily="34" charset="-122"/>
                          <a:cs typeface="Calibri" pitchFamily="34" charset="-120"/>
                        </a:rPr>
                        <a:t>one file per issue</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marL="0" indent="0">
                        <a:buNone/>
                      </a:pPr>
                      <a:r>
                        <a:rPr lang="en-US" sz="1150" dirty="0">
                          <a:solidFill>
                            <a:srgbClr val="141B34"/>
                          </a:solidFill>
                          <a:latin typeface="Calibri" pitchFamily="34" charset="0"/>
                          <a:ea typeface="Calibri" pitchFamily="34" charset="-122"/>
                          <a:cs typeface="Calibri" pitchFamily="34" charset="-120"/>
                        </a:rPr>
                        <a:t>The GitHub API already speaks JSON, so nothing is lost</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150" b="1" dirty="0">
                          <a:solidFill>
                            <a:srgbClr val="141B34"/>
                          </a:solidFill>
                          <a:latin typeface="Calibri" pitchFamily="34" charset="0"/>
                          <a:ea typeface="Calibri" pitchFamily="34" charset="-122"/>
                          <a:cs typeface="Calibri" pitchFamily="34" charset="-120"/>
                        </a:rPr>
                        <a:t>Notion</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marL="0" indent="0">
                        <a:buNone/>
                      </a:pPr>
                      <a:r>
                        <a:rPr lang="en-US" sz="1150" b="1" dirty="0">
                          <a:solidFill>
                            <a:srgbClr val="F26B3A"/>
                          </a:solidFill>
                          <a:latin typeface="Calibri" pitchFamily="34" charset="0"/>
                          <a:ea typeface="Calibri" pitchFamily="34" charset="-122"/>
                          <a:cs typeface="Calibri" pitchFamily="34" charset="-120"/>
                        </a:rPr>
                        <a:t>Markdown + YAML</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marL="0" indent="0">
                        <a:buNone/>
                      </a:pPr>
                      <a:r>
                        <a:rPr lang="en-US" sz="1150" dirty="0">
                          <a:solidFill>
                            <a:srgbClr val="141B34"/>
                          </a:solidFill>
                          <a:latin typeface="Calibri" pitchFamily="34" charset="0"/>
                          <a:ea typeface="Calibri" pitchFamily="34" charset="-122"/>
                          <a:cs typeface="Calibri" pitchFamily="34" charset="-120"/>
                        </a:rPr>
                        <a:t>one file per page</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marL="0" indent="0">
                        <a:buNone/>
                      </a:pPr>
                      <a:r>
                        <a:rPr lang="en-US" sz="1150" dirty="0">
                          <a:solidFill>
                            <a:srgbClr val="141B34"/>
                          </a:solidFill>
                          <a:latin typeface="Calibri" pitchFamily="34" charset="0"/>
                          <a:ea typeface="Calibri" pitchFamily="34" charset="-122"/>
                          <a:cs typeface="Calibri" pitchFamily="34" charset="-120"/>
                        </a:rPr>
                        <a:t>Pages are mostly text; the YAML header keeps the metadata</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150" b="1" dirty="0">
                          <a:solidFill>
                            <a:srgbClr val="141B34"/>
                          </a:solidFill>
                          <a:latin typeface="Calibri" pitchFamily="34" charset="0"/>
                          <a:ea typeface="Calibri" pitchFamily="34" charset="-122"/>
                          <a:cs typeface="Calibri" pitchFamily="34" charset="-120"/>
                        </a:rPr>
                        <a:t>Supabase</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marL="0" indent="0">
                        <a:buNone/>
                      </a:pPr>
                      <a:r>
                        <a:rPr lang="en-US" sz="1150" b="1" dirty="0">
                          <a:solidFill>
                            <a:srgbClr val="F26B3A"/>
                          </a:solidFill>
                          <a:latin typeface="Calibri" pitchFamily="34" charset="0"/>
                          <a:ea typeface="Calibri" pitchFamily="34" charset="-122"/>
                          <a:cs typeface="Calibri" pitchFamily="34" charset="-120"/>
                        </a:rPr>
                        <a:t>JSON + CSV + schema</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marL="0" indent="0">
                        <a:buNone/>
                      </a:pPr>
                      <a:r>
                        <a:rPr lang="en-US" sz="1150" dirty="0">
                          <a:solidFill>
                            <a:srgbClr val="141B34"/>
                          </a:solidFill>
                          <a:latin typeface="Calibri" pitchFamily="34" charset="0"/>
                          <a:ea typeface="Calibri" pitchFamily="34" charset="-122"/>
                          <a:cs typeface="Calibri" pitchFamily="34" charset="-120"/>
                        </a:rPr>
                        <a:t>one table (10 rows)</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marL="0" indent="0">
                        <a:buNone/>
                      </a:pPr>
                      <a:r>
                        <a:rPr lang="en-US" sz="1150" dirty="0">
                          <a:solidFill>
                            <a:srgbClr val="141B34"/>
                          </a:solidFill>
                          <a:latin typeface="Calibri" pitchFamily="34" charset="0"/>
                          <a:ea typeface="Calibri" pitchFamily="34" charset="-122"/>
                          <a:cs typeface="Calibri" pitchFamily="34" charset="-120"/>
                        </a:rPr>
                        <a:t>CSV opens in Excel; JSON adds project, table, row count and date</a:t>
                      </a:r>
                      <a:endParaRPr lang="en-US" sz="1150" dirty="0">
                        <a:latin typeface="Calibri" charset="0"/>
                        <a:ea typeface="Calibri" charset="0"/>
                        <a:cs typeface="Calibri" charset="0"/>
                      </a:endParaRPr>
                    </a:p>
                  </a:txBody>
                  <a:tcPr marT="0" marB="0"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Rules box"/>
          <p:cNvSpPr/>
          <p:nvPr/>
        </p:nvSpPr>
        <p:spPr>
          <a:xfrm>
            <a:off x="457200" y="3840480"/>
            <a:ext cx="8229600" cy="777240"/>
          </a:xfrm>
          <a:prstGeom prst="roundRect">
            <a:avLst>
              <a:gd name="adj" fmla="val 9412"/>
            </a:avLst>
          </a:prstGeom>
          <a:solidFill>
            <a:srgbClr val="F3F4F8"/>
          </a:solidFill>
          <a:ln w="12700">
            <a:solidFill>
              <a:srgbClr val="F3F4F8"/>
            </a:solidFill>
            <a:prstDash val="solid"/>
          </a:ln>
        </p:spPr>
        <p:txBody>
          <a:bodyPr/>
          <a:lstStyle/>
          <a:p>
            <a:endParaRPr lang="en-US"/>
          </a:p>
        </p:txBody>
      </p:sp>
      <p:sp>
        <p:nvSpPr>
          <p:cNvPr id="6" name="Rules text"/>
          <p:cNvSpPr txBox="1"/>
          <p:nvPr/>
        </p:nvSpPr>
        <p:spPr>
          <a:xfrm>
            <a:off x="640080" y="3886200"/>
            <a:ext cx="7863840" cy="685800"/>
          </a:xfrm>
          <a:prstGeom prst="rect">
            <a:avLst/>
          </a:prstGeom>
          <a:noFill/>
          <a:ln/>
        </p:spPr>
        <p:txBody>
          <a:bodyPr wrap="square" lIns="0" tIns="0" rIns="0" bIns="0" rtlCol="0" anchor="ctr"/>
          <a:lstStyle/>
          <a:p>
            <a:pPr marL="0" indent="0">
              <a:buNone/>
            </a:pPr>
            <a:r>
              <a:rPr lang="en-US" sz="1200" b="1" dirty="0">
                <a:solidFill>
                  <a:schemeClr val="tx1"/>
                </a:solidFill>
              </a:rPr>
              <a:t>Rules for every service: </a:t>
            </a:r>
            <a:r>
              <a:rPr lang="en-US" sz="1200" dirty="0">
                <a:solidFill>
                  <a:schemeClr val="tx1"/>
                </a:solidFill>
              </a:rPr>
              <a:t>data lives in dataExports/&lt;service&gt;/, each item is its own file with a unique name, and every file keeps its metadata plus a source field. Full details and reasons are in localStorageFormats.md.</a:t>
            </a:r>
            <a:endParaRPr lang="en-US" sz="1200" dirty="0"/>
          </a:p>
        </p:txBody>
      </p:sp>
      <p:sp>
        <p:nvSpPr>
          <p:cNvPr id="25" name="Slide Number Placeholder 0"/>
          <p:cNvSpPr>
            <a:spLocks noGrp="1"/>
          </p:cNvSpPr>
          <p:nvPr>
            <p:ph type="sldNum" sz="quarter" idx="4294967295"/>
          </p:nvPr>
        </p:nvSpPr>
        <p:spPr>
          <a:xfrm>
            <a:off x="8321040" y="4828032"/>
            <a:ext cx="36576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100" dirty="0">
                <a:solidFill>
                  <a:schemeClr val="accent1"/>
                </a:solidFill>
              </a:rPr>
              <a:t>LOCAL STORAGE FORMATS</a:t>
            </a:r>
            <a:endParaRPr lang="en-US" sz="1100" dirty="0"/>
          </a:p>
        </p:txBody>
      </p:sp>
      <p:sp>
        <p:nvSpPr>
          <p:cNvPr id="3" name="Text 0"/>
          <p:cNvSpPr>
            <a:spLocks noGrp="1"/>
          </p:cNvSpPr>
          <p:nvPr>
            <p:ph type="title" idx="101" hasCustomPrompt="1"/>
          </p:nvPr>
        </p:nvSpPr>
        <p:spPr>
          <a:xfrm>
            <a:off x="457200" y="475488"/>
            <a:ext cx="8229600" cy="54864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What a saved file looks like</a:t>
            </a:r>
            <a:endParaRPr lang="en-US" sz="2600" dirty="0"/>
          </a:p>
        </p:txBody>
      </p:sp>
      <p:sp>
        <p:nvSpPr>
          <p:cNvPr id="4" name="gmail json panel"/>
          <p:cNvSpPr/>
          <p:nvPr/>
        </p:nvSpPr>
        <p:spPr>
          <a:xfrm>
            <a:off x="457200" y="1188720"/>
            <a:ext cx="4023360" cy="3429000"/>
          </a:xfrm>
          <a:prstGeom prst="roundRect">
            <a:avLst>
              <a:gd name="adj" fmla="val 2133"/>
            </a:avLst>
          </a:prstGeom>
          <a:solidFill>
            <a:srgbClr val="0E1430"/>
          </a:solidFill>
          <a:ln w="12700">
            <a:solidFill>
              <a:srgbClr val="0E1430"/>
            </a:solidFill>
            <a:prstDash val="solid"/>
          </a:ln>
          <a:effectLst>
            <a:outerShdw blurRad="101600" dist="25400" dir="5400000" algn="bl" rotWithShape="0">
              <a:srgbClr val="000000">
                <a:alpha val="14000"/>
              </a:srgbClr>
            </a:outerShdw>
          </a:effectLst>
        </p:spPr>
        <p:txBody>
          <a:bodyPr/>
          <a:lstStyle/>
          <a:p>
            <a:endParaRPr lang="en-US"/>
          </a:p>
        </p:txBody>
      </p:sp>
      <p:sp>
        <p:nvSpPr>
          <p:cNvPr id="5" name="gmail json label"/>
          <p:cNvSpPr txBox="1"/>
          <p:nvPr/>
        </p:nvSpPr>
        <p:spPr>
          <a:xfrm>
            <a:off x="621792" y="1280160"/>
            <a:ext cx="3694176" cy="228600"/>
          </a:xfrm>
          <a:prstGeom prst="rect">
            <a:avLst/>
          </a:prstGeom>
          <a:noFill/>
          <a:ln/>
        </p:spPr>
        <p:txBody>
          <a:bodyPr wrap="square" lIns="0" tIns="0" rIns="0" bIns="0" rtlCol="0" anchor="ctr"/>
          <a:lstStyle/>
          <a:p>
            <a:pPr marL="0" indent="0">
              <a:buNone/>
            </a:pPr>
            <a:r>
              <a:rPr lang="en-US" sz="900" b="1" dirty="0">
                <a:solidFill>
                  <a:srgbClr val="9AA3C2"/>
                </a:solidFill>
                <a:latin typeface="Courier New" pitchFamily="34" charset="0"/>
                <a:ea typeface="Courier New" pitchFamily="34" charset="-122"/>
                <a:cs typeface="Courier New" pitchFamily="34" charset="-120"/>
              </a:rPr>
              <a:t>dataExports/gmail/1a12b5a46aa732e9.json</a:t>
            </a:r>
            <a:endParaRPr lang="en-US" sz="900" dirty="0"/>
          </a:p>
        </p:txBody>
      </p:sp>
      <p:sp>
        <p:nvSpPr>
          <p:cNvPr id="6" name="gmail json code"/>
          <p:cNvSpPr txBox="1"/>
          <p:nvPr/>
        </p:nvSpPr>
        <p:spPr>
          <a:xfrm>
            <a:off x="621792" y="1536192"/>
            <a:ext cx="3694176" cy="2990088"/>
          </a:xfrm>
          <a:prstGeom prst="rect">
            <a:avLst/>
          </a:prstGeom>
          <a:noFill/>
          <a:ln/>
        </p:spPr>
        <p:txBody>
          <a:bodyPr wrap="square" lIns="0" tIns="0" rIns="0" bIns="0" rtlCol="0" anchor="t"/>
          <a:lstStyle/>
          <a:p>
            <a:pPr marL="0" indent="0">
              <a:buNone/>
            </a:pPr>
            <a:r>
              <a:rPr lang="en-US" sz="900" dirty="0">
                <a:solidFill>
                  <a:srgbClr val="E6E9F5"/>
                </a:solidFill>
                <a:latin typeface="Courier New" pitchFamily="34" charset="0"/>
                <a:ea typeface="Courier New" pitchFamily="34" charset="-122"/>
                <a:cs typeface="Courier New" pitchFamily="34" charset="-120"/>
              </a:rPr>
              <a:t>{</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"id": "1a12b5a46aa732e9",</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"from": "josephhomeworksai@gmail.com",</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"to": ["josephhomeworksai@gmail.com"],</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"cc": [],</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"subject": "How does your in-house</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financing work?",</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"date": "2026-10-11T14:24:59Z",</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"labels": ["UNREAD", "SENT", "INBOX"],</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"snippet": "Hello, My name is Maria</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Prueba. I found you on...",</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"body": "...",</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"viewUrl": "https://mail.google.com/...",</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"source": "gmail"</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a:t>
            </a:r>
            <a:endParaRPr lang="en-US" sz="900" dirty="0"/>
          </a:p>
        </p:txBody>
      </p:sp>
      <p:sp>
        <p:nvSpPr>
          <p:cNvPr id="7" name="notion md panel"/>
          <p:cNvSpPr/>
          <p:nvPr/>
        </p:nvSpPr>
        <p:spPr>
          <a:xfrm>
            <a:off x="4663440" y="1188720"/>
            <a:ext cx="4023360" cy="3429000"/>
          </a:xfrm>
          <a:prstGeom prst="roundRect">
            <a:avLst>
              <a:gd name="adj" fmla="val 2133"/>
            </a:avLst>
          </a:prstGeom>
          <a:solidFill>
            <a:srgbClr val="0E1430"/>
          </a:solidFill>
          <a:ln w="12700">
            <a:solidFill>
              <a:srgbClr val="0E1430"/>
            </a:solidFill>
            <a:prstDash val="solid"/>
          </a:ln>
          <a:effectLst>
            <a:outerShdw blurRad="101600" dist="25400" dir="5400000" algn="bl" rotWithShape="0">
              <a:srgbClr val="000000">
                <a:alpha val="14000"/>
              </a:srgbClr>
            </a:outerShdw>
          </a:effectLst>
        </p:spPr>
        <p:txBody>
          <a:bodyPr/>
          <a:lstStyle/>
          <a:p>
            <a:endParaRPr lang="en-US"/>
          </a:p>
        </p:txBody>
      </p:sp>
      <p:sp>
        <p:nvSpPr>
          <p:cNvPr id="8" name="notion md label"/>
          <p:cNvSpPr txBox="1"/>
          <p:nvPr/>
        </p:nvSpPr>
        <p:spPr>
          <a:xfrm>
            <a:off x="4828032" y="1280160"/>
            <a:ext cx="3694176" cy="228600"/>
          </a:xfrm>
          <a:prstGeom prst="rect">
            <a:avLst/>
          </a:prstGeom>
          <a:noFill/>
          <a:ln/>
        </p:spPr>
        <p:txBody>
          <a:bodyPr wrap="square" lIns="0" tIns="0" rIns="0" bIns="0" rtlCol="0" anchor="ctr"/>
          <a:lstStyle/>
          <a:p>
            <a:pPr marL="0" indent="0">
              <a:buNone/>
            </a:pPr>
            <a:r>
              <a:rPr lang="en-US" sz="900" b="1" dirty="0">
                <a:solidFill>
                  <a:srgbClr val="9AA3C2"/>
                </a:solidFill>
                <a:latin typeface="Courier New" pitchFamily="34" charset="0"/>
                <a:ea typeface="Courier New" pitchFamily="34" charset="-122"/>
                <a:cs typeface="Courier New" pitchFamily="34" charset="-120"/>
              </a:rPr>
              <a:t>dataExports/notion/maria-prueba-forza-fz200-cash-7693d9.md</a:t>
            </a:r>
            <a:endParaRPr lang="en-US" sz="900" dirty="0"/>
          </a:p>
        </p:txBody>
      </p:sp>
      <p:sp>
        <p:nvSpPr>
          <p:cNvPr id="9" name="notion md code"/>
          <p:cNvSpPr txBox="1"/>
          <p:nvPr/>
        </p:nvSpPr>
        <p:spPr>
          <a:xfrm>
            <a:off x="4828032" y="1536192"/>
            <a:ext cx="3694176" cy="2990088"/>
          </a:xfrm>
          <a:prstGeom prst="rect">
            <a:avLst/>
          </a:prstGeom>
          <a:noFill/>
          <a:ln/>
        </p:spPr>
        <p:txBody>
          <a:bodyPr wrap="square" lIns="0" tIns="0" rIns="0" bIns="0" rtlCol="0" anchor="t"/>
          <a:lstStyle/>
          <a:p>
            <a:pPr marL="0" indent="0">
              <a:buNone/>
            </a:pPr>
            <a:r>
              <a:rPr lang="en-US" sz="900" dirty="0">
                <a:solidFill>
                  <a:srgbClr val="E6E9F5"/>
                </a:solidFill>
                <a:latin typeface="Courier New" pitchFamily="34" charset="0"/>
                <a:ea typeface="Courier New" pitchFamily="34" charset="-122"/>
                <a:cs typeface="Courier New" pitchFamily="34" charset="-120"/>
              </a:rPr>
              <a:t>---</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source: notion</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id: 3f6e7bb8-8d4a-81cb-b2d1-c717397693d9</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title: "Maria Prueba - Forza FZ200 cash"</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database: "Dealership Test"</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created_time: "2026-10-11T14:24:51Z"</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properties:</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Brand: "Forza"</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Lead Source: "TikTok"</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Stage: "Sold"</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Follow-up Date: "2026-09-09"</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a:t>
            </a:r>
            <a:endParaRPr lang="en-US" sz="900" dirty="0"/>
          </a:p>
          <a:p>
            <a:pPr marL="0" indent="0">
              <a:buNone/>
            </a:pPr>
            <a:r>
              <a:rPr lang="en-US" sz="900" dirty="0">
                <a:solidFill>
                  <a:srgbClr val="F9A27E"/>
                </a:solidFill>
                <a:latin typeface="Courier New" pitchFamily="34" charset="0"/>
                <a:ea typeface="Courier New" pitchFamily="34" charset="-122"/>
                <a:cs typeface="Courier New" pitchFamily="34" charset="-120"/>
              </a:rPr>
              <a:t># Maria Prueba - Forza FZ200 cash</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Maria Prueba saw our TikTok video of</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the FZ200 Sport and paid cash.</a:t>
            </a:r>
            <a:endParaRPr lang="en-US" sz="900" dirty="0"/>
          </a:p>
        </p:txBody>
      </p:sp>
      <p:sp>
        <p:nvSpPr>
          <p:cNvPr id="25" name="Slide Number Placeholder 0"/>
          <p:cNvSpPr>
            <a:spLocks noGrp="1"/>
          </p:cNvSpPr>
          <p:nvPr>
            <p:ph type="sldNum" sz="quarter" idx="4294967295"/>
          </p:nvPr>
        </p:nvSpPr>
        <p:spPr>
          <a:xfrm>
            <a:off x="8321040" y="4828032"/>
            <a:ext cx="36576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100" dirty="0">
                <a:solidFill>
                  <a:schemeClr val="accent1"/>
                </a:solidFill>
              </a:rPr>
              <a:t>CLAUDE CODE SKILL</a:t>
            </a:r>
            <a:endParaRPr lang="en-US" sz="1100" dirty="0"/>
          </a:p>
        </p:txBody>
      </p:sp>
      <p:sp>
        <p:nvSpPr>
          <p:cNvPr id="3" name="Text 0"/>
          <p:cNvSpPr>
            <a:spLocks noGrp="1"/>
          </p:cNvSpPr>
          <p:nvPr>
            <p:ph type="title" idx="101" hasCustomPrompt="1"/>
          </p:nvPr>
        </p:nvSpPr>
        <p:spPr>
          <a:xfrm>
            <a:off x="457200" y="475488"/>
            <a:ext cx="8229600" cy="54864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export-services makes the download repeatable</a:t>
            </a:r>
            <a:endParaRPr lang="en-US" sz="2600" dirty="0"/>
          </a:p>
        </p:txBody>
      </p:sp>
      <p:sp>
        <p:nvSpPr>
          <p:cNvPr id="4" name="step circle 0"/>
          <p:cNvSpPr/>
          <p:nvPr/>
        </p:nvSpPr>
        <p:spPr>
          <a:xfrm>
            <a:off x="457200" y="1261872"/>
            <a:ext cx="502920" cy="502920"/>
          </a:xfrm>
          <a:prstGeom prst="ellipse">
            <a:avLst/>
          </a:prstGeom>
          <a:solidFill>
            <a:srgbClr val="141B34"/>
          </a:solidFill>
          <a:ln w="12700">
            <a:solidFill>
              <a:srgbClr val="141B34"/>
            </a:solidFill>
            <a:prstDash val="solid"/>
          </a:ln>
        </p:spPr>
        <p:txBody>
          <a:bodyPr/>
          <a:lstStyle/>
          <a:p>
            <a:endParaRPr lang="en-US"/>
          </a:p>
        </p:txBody>
      </p:sp>
      <p:sp>
        <p:nvSpPr>
          <p:cNvPr id="5" name="step num 0"/>
          <p:cNvSpPr txBox="1"/>
          <p:nvPr/>
        </p:nvSpPr>
        <p:spPr>
          <a:xfrm>
            <a:off x="457200" y="1261872"/>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6" name="step text 0"/>
          <p:cNvSpPr txBox="1"/>
          <p:nvPr/>
        </p:nvSpPr>
        <p:spPr>
          <a:xfrm>
            <a:off x="1143000" y="1188720"/>
            <a:ext cx="3291840" cy="685800"/>
          </a:xfrm>
          <a:prstGeom prst="rect">
            <a:avLst/>
          </a:prstGeom>
          <a:noFill/>
          <a:ln/>
        </p:spPr>
        <p:txBody>
          <a:bodyPr wrap="square" lIns="0" tIns="0" rIns="0" bIns="0" rtlCol="0" anchor="ctr"/>
          <a:lstStyle/>
          <a:p>
            <a:pPr marL="0" indent="0">
              <a:buNone/>
            </a:pPr>
            <a:r>
              <a:rPr lang="en-US" sz="1300" b="1" dirty="0">
                <a:solidFill>
                  <a:schemeClr val="tx1"/>
                </a:solidFill>
              </a:rPr>
              <a:t>Check</a:t>
            </a:r>
            <a:endParaRPr lang="en-US" sz="1300" dirty="0"/>
          </a:p>
          <a:p>
            <a:pPr marL="0" indent="0">
              <a:buNone/>
            </a:pPr>
            <a:r>
              <a:rPr lang="en-US" sz="1100" dirty="0">
                <a:solidFill>
                  <a:schemeClr val="tx2"/>
                </a:solidFill>
              </a:rPr>
              <a:t>All 4 MCP servers connected, test accounts only, no secrets written</a:t>
            </a:r>
            <a:endParaRPr lang="en-US" sz="1300" dirty="0"/>
          </a:p>
        </p:txBody>
      </p:sp>
      <p:sp>
        <p:nvSpPr>
          <p:cNvPr id="7" name="step circle 1"/>
          <p:cNvSpPr/>
          <p:nvPr/>
        </p:nvSpPr>
        <p:spPr>
          <a:xfrm>
            <a:off x="457200" y="2112264"/>
            <a:ext cx="502920" cy="502920"/>
          </a:xfrm>
          <a:prstGeom prst="ellipse">
            <a:avLst/>
          </a:prstGeom>
          <a:solidFill>
            <a:srgbClr val="141B34"/>
          </a:solidFill>
          <a:ln w="12700">
            <a:solidFill>
              <a:srgbClr val="141B34"/>
            </a:solidFill>
            <a:prstDash val="solid"/>
          </a:ln>
        </p:spPr>
        <p:txBody>
          <a:bodyPr/>
          <a:lstStyle/>
          <a:p>
            <a:endParaRPr lang="en-US"/>
          </a:p>
        </p:txBody>
      </p:sp>
      <p:sp>
        <p:nvSpPr>
          <p:cNvPr id="8" name="step num 1"/>
          <p:cNvSpPr txBox="1"/>
          <p:nvPr/>
        </p:nvSpPr>
        <p:spPr>
          <a:xfrm>
            <a:off x="457200" y="2112264"/>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9" name="step text 1"/>
          <p:cNvSpPr txBox="1"/>
          <p:nvPr/>
        </p:nvSpPr>
        <p:spPr>
          <a:xfrm>
            <a:off x="1143000" y="2039112"/>
            <a:ext cx="3291840" cy="685800"/>
          </a:xfrm>
          <a:prstGeom prst="rect">
            <a:avLst/>
          </a:prstGeom>
          <a:noFill/>
          <a:ln/>
        </p:spPr>
        <p:txBody>
          <a:bodyPr wrap="square" lIns="0" tIns="0" rIns="0" bIns="0" rtlCol="0" anchor="ctr"/>
          <a:lstStyle/>
          <a:p>
            <a:pPr marL="0" indent="0">
              <a:buNone/>
            </a:pPr>
            <a:r>
              <a:rPr lang="en-US" sz="1300" b="1" dirty="0">
                <a:solidFill>
                  <a:schemeClr val="tx1"/>
                </a:solidFill>
              </a:rPr>
              <a:t>Read</a:t>
            </a:r>
            <a:endParaRPr lang="en-US" sz="1300" dirty="0"/>
          </a:p>
          <a:p>
            <a:pPr marL="0" indent="0">
              <a:buNone/>
            </a:pPr>
            <a:r>
              <a:rPr lang="en-US" sz="1100" dirty="0">
                <a:solidFill>
                  <a:schemeClr val="tx2"/>
                </a:solidFill>
              </a:rPr>
              <a:t>Gmail search, GitHub list_issues, Notion query, Supabase read-only SQL</a:t>
            </a:r>
            <a:endParaRPr lang="en-US" sz="1300" dirty="0"/>
          </a:p>
        </p:txBody>
      </p:sp>
      <p:sp>
        <p:nvSpPr>
          <p:cNvPr id="10" name="step circle 2"/>
          <p:cNvSpPr/>
          <p:nvPr/>
        </p:nvSpPr>
        <p:spPr>
          <a:xfrm>
            <a:off x="457200" y="2962656"/>
            <a:ext cx="502920" cy="502920"/>
          </a:xfrm>
          <a:prstGeom prst="ellipse">
            <a:avLst/>
          </a:prstGeom>
          <a:solidFill>
            <a:srgbClr val="141B34"/>
          </a:solidFill>
          <a:ln w="12700">
            <a:solidFill>
              <a:srgbClr val="141B34"/>
            </a:solidFill>
            <a:prstDash val="solid"/>
          </a:ln>
        </p:spPr>
        <p:txBody>
          <a:bodyPr/>
          <a:lstStyle/>
          <a:p>
            <a:endParaRPr lang="en-US"/>
          </a:p>
        </p:txBody>
      </p:sp>
      <p:sp>
        <p:nvSpPr>
          <p:cNvPr id="11" name="step num 2"/>
          <p:cNvSpPr txBox="1"/>
          <p:nvPr/>
        </p:nvSpPr>
        <p:spPr>
          <a:xfrm>
            <a:off x="457200" y="2962656"/>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2" name="step text 2"/>
          <p:cNvSpPr txBox="1"/>
          <p:nvPr/>
        </p:nvSpPr>
        <p:spPr>
          <a:xfrm>
            <a:off x="1143000" y="2889504"/>
            <a:ext cx="3291840" cy="685800"/>
          </a:xfrm>
          <a:prstGeom prst="rect">
            <a:avLst/>
          </a:prstGeom>
          <a:noFill/>
          <a:ln/>
        </p:spPr>
        <p:txBody>
          <a:bodyPr wrap="square" lIns="0" tIns="0" rIns="0" bIns="0" rtlCol="0" anchor="ctr"/>
          <a:lstStyle/>
          <a:p>
            <a:pPr marL="0" indent="0">
              <a:buNone/>
            </a:pPr>
            <a:r>
              <a:rPr lang="en-US" sz="1300" b="1" dirty="0">
                <a:solidFill>
                  <a:schemeClr val="tx1"/>
                </a:solidFill>
              </a:rPr>
              <a:t>Save</a:t>
            </a:r>
            <a:endParaRPr lang="en-US" sz="1300" dirty="0"/>
          </a:p>
          <a:p>
            <a:pPr marL="0" indent="0">
              <a:buNone/>
            </a:pPr>
            <a:r>
              <a:rPr lang="en-US" sz="1100" dirty="0">
                <a:solidFill>
                  <a:schemeClr val="tx2"/>
                </a:solidFill>
              </a:rPr>
              <a:t>Each item in dataExports/&lt;service&gt;/ in the documented format</a:t>
            </a:r>
            <a:endParaRPr lang="en-US" sz="1300" dirty="0"/>
          </a:p>
        </p:txBody>
      </p:sp>
      <p:sp>
        <p:nvSpPr>
          <p:cNvPr id="13" name="step circle 3"/>
          <p:cNvSpPr/>
          <p:nvPr/>
        </p:nvSpPr>
        <p:spPr>
          <a:xfrm>
            <a:off x="457200" y="3813048"/>
            <a:ext cx="502920" cy="502920"/>
          </a:xfrm>
          <a:prstGeom prst="ellipse">
            <a:avLst/>
          </a:prstGeom>
          <a:solidFill>
            <a:srgbClr val="F26B3A"/>
          </a:solidFill>
          <a:ln w="12700">
            <a:solidFill>
              <a:srgbClr val="F26B3A"/>
            </a:solidFill>
            <a:prstDash val="solid"/>
          </a:ln>
        </p:spPr>
        <p:txBody>
          <a:bodyPr/>
          <a:lstStyle/>
          <a:p>
            <a:endParaRPr lang="en-US"/>
          </a:p>
        </p:txBody>
      </p:sp>
      <p:sp>
        <p:nvSpPr>
          <p:cNvPr id="14" name="step num 3"/>
          <p:cNvSpPr txBox="1"/>
          <p:nvPr/>
        </p:nvSpPr>
        <p:spPr>
          <a:xfrm>
            <a:off x="457200" y="381304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15" name="step text 3"/>
          <p:cNvSpPr txBox="1"/>
          <p:nvPr/>
        </p:nvSpPr>
        <p:spPr>
          <a:xfrm>
            <a:off x="1143000" y="3739896"/>
            <a:ext cx="3291840" cy="685800"/>
          </a:xfrm>
          <a:prstGeom prst="rect">
            <a:avLst/>
          </a:prstGeom>
          <a:noFill/>
          <a:ln/>
        </p:spPr>
        <p:txBody>
          <a:bodyPr wrap="square" lIns="0" tIns="0" rIns="0" bIns="0" rtlCol="0" anchor="ctr"/>
          <a:lstStyle/>
          <a:p>
            <a:pPr marL="0" indent="0">
              <a:buNone/>
            </a:pPr>
            <a:r>
              <a:rPr lang="en-US" sz="1300" b="1" dirty="0">
                <a:solidFill>
                  <a:schemeClr val="tx1"/>
                </a:solidFill>
              </a:rPr>
              <a:t>Verify</a:t>
            </a:r>
            <a:endParaRPr lang="en-US" sz="1300" dirty="0"/>
          </a:p>
          <a:p>
            <a:pPr marL="0" indent="0">
              <a:buNone/>
            </a:pPr>
            <a:r>
              <a:rPr lang="en-US" sz="1100" dirty="0">
                <a:solidFill>
                  <a:schemeClr val="tx2"/>
                </a:solidFill>
              </a:rPr>
              <a:t>Count files per service, run a test search, scan git status for secrets</a:t>
            </a:r>
            <a:endParaRPr lang="en-US" sz="1300" dirty="0"/>
          </a:p>
        </p:txBody>
      </p:sp>
      <p:sp>
        <p:nvSpPr>
          <p:cNvPr id="16" name="skill md panel"/>
          <p:cNvSpPr/>
          <p:nvPr/>
        </p:nvSpPr>
        <p:spPr>
          <a:xfrm>
            <a:off x="4663440" y="1188720"/>
            <a:ext cx="4023360" cy="1463040"/>
          </a:xfrm>
          <a:prstGeom prst="roundRect">
            <a:avLst>
              <a:gd name="adj" fmla="val 5000"/>
            </a:avLst>
          </a:prstGeom>
          <a:solidFill>
            <a:srgbClr val="0E1430"/>
          </a:solidFill>
          <a:ln w="12700">
            <a:solidFill>
              <a:srgbClr val="0E1430"/>
            </a:solidFill>
            <a:prstDash val="solid"/>
          </a:ln>
          <a:effectLst>
            <a:outerShdw blurRad="101600" dist="25400" dir="5400000" algn="bl" rotWithShape="0">
              <a:srgbClr val="000000">
                <a:alpha val="14000"/>
              </a:srgbClr>
            </a:outerShdw>
          </a:effectLst>
        </p:spPr>
        <p:txBody>
          <a:bodyPr/>
          <a:lstStyle/>
          <a:p>
            <a:endParaRPr lang="en-US"/>
          </a:p>
        </p:txBody>
      </p:sp>
      <p:sp>
        <p:nvSpPr>
          <p:cNvPr id="17" name="skill md label"/>
          <p:cNvSpPr txBox="1"/>
          <p:nvPr/>
        </p:nvSpPr>
        <p:spPr>
          <a:xfrm>
            <a:off x="4828032" y="1280160"/>
            <a:ext cx="3694176" cy="228600"/>
          </a:xfrm>
          <a:prstGeom prst="rect">
            <a:avLst/>
          </a:prstGeom>
          <a:noFill/>
          <a:ln/>
        </p:spPr>
        <p:txBody>
          <a:bodyPr wrap="square" lIns="0" tIns="0" rIns="0" bIns="0" rtlCol="0" anchor="ctr"/>
          <a:lstStyle/>
          <a:p>
            <a:pPr marL="0" indent="0">
              <a:buNone/>
            </a:pPr>
            <a:r>
              <a:rPr lang="en-US" sz="900" b="1" dirty="0">
                <a:solidFill>
                  <a:srgbClr val="9AA3C2"/>
                </a:solidFill>
                <a:latin typeface="Courier New" pitchFamily="34" charset="0"/>
                <a:ea typeface="Courier New" pitchFamily="34" charset="-122"/>
                <a:cs typeface="Courier New" pitchFamily="34" charset="-120"/>
              </a:rPr>
              <a:t>.claude/skills/export-services/SKILL.md</a:t>
            </a:r>
            <a:endParaRPr lang="en-US" sz="900" dirty="0"/>
          </a:p>
        </p:txBody>
      </p:sp>
      <p:sp>
        <p:nvSpPr>
          <p:cNvPr id="18" name="skill md code"/>
          <p:cNvSpPr txBox="1"/>
          <p:nvPr/>
        </p:nvSpPr>
        <p:spPr>
          <a:xfrm>
            <a:off x="4828032" y="1536192"/>
            <a:ext cx="3694176" cy="1024128"/>
          </a:xfrm>
          <a:prstGeom prst="rect">
            <a:avLst/>
          </a:prstGeom>
          <a:noFill/>
          <a:ln/>
        </p:spPr>
        <p:txBody>
          <a:bodyPr wrap="square" lIns="0" tIns="0" rIns="0" bIns="0" rtlCol="0" anchor="t"/>
          <a:lstStyle/>
          <a:p>
            <a:pPr marL="0" indent="0">
              <a:buNone/>
            </a:pPr>
            <a:r>
              <a:rPr lang="en-US" sz="900" dirty="0">
                <a:solidFill>
                  <a:srgbClr val="E6E9F5"/>
                </a:solidFill>
                <a:latin typeface="Courier New" pitchFamily="34" charset="0"/>
                <a:ea typeface="Courier New" pitchFamily="34" charset="-122"/>
                <a:cs typeface="Courier New" pitchFamily="34" charset="-120"/>
              </a:rPr>
              <a:t>---</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name: export-services</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description: Download test items from Gmail,</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GitHub, Notion and Supabase into dataExports/</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a:t>
            </a:r>
            <a:endParaRPr lang="en-US" sz="900" dirty="0"/>
          </a:p>
        </p:txBody>
      </p:sp>
      <p:sp>
        <p:nvSpPr>
          <p:cNvPr id="19" name="skill test panel"/>
          <p:cNvSpPr/>
          <p:nvPr/>
        </p:nvSpPr>
        <p:spPr>
          <a:xfrm>
            <a:off x="4663440" y="2834640"/>
            <a:ext cx="4023360" cy="1783080"/>
          </a:xfrm>
          <a:prstGeom prst="roundRect">
            <a:avLst>
              <a:gd name="adj" fmla="val 4103"/>
            </a:avLst>
          </a:prstGeom>
          <a:solidFill>
            <a:srgbClr val="0E1430"/>
          </a:solidFill>
          <a:ln w="12700">
            <a:solidFill>
              <a:srgbClr val="0E1430"/>
            </a:solidFill>
            <a:prstDash val="solid"/>
          </a:ln>
          <a:effectLst>
            <a:outerShdw blurRad="101600" dist="25400" dir="5400000" algn="bl" rotWithShape="0">
              <a:srgbClr val="000000">
                <a:alpha val="14000"/>
              </a:srgbClr>
            </a:outerShdw>
          </a:effectLst>
        </p:spPr>
        <p:txBody>
          <a:bodyPr/>
          <a:lstStyle/>
          <a:p>
            <a:endParaRPr lang="en-US"/>
          </a:p>
        </p:txBody>
      </p:sp>
      <p:sp>
        <p:nvSpPr>
          <p:cNvPr id="20" name="skill test label"/>
          <p:cNvSpPr txBox="1"/>
          <p:nvPr/>
        </p:nvSpPr>
        <p:spPr>
          <a:xfrm>
            <a:off x="4828032" y="2926080"/>
            <a:ext cx="3694176" cy="228600"/>
          </a:xfrm>
          <a:prstGeom prst="rect">
            <a:avLst/>
          </a:prstGeom>
          <a:noFill/>
          <a:ln/>
        </p:spPr>
        <p:txBody>
          <a:bodyPr wrap="square" lIns="0" tIns="0" rIns="0" bIns="0" rtlCol="0" anchor="ctr"/>
          <a:lstStyle/>
          <a:p>
            <a:pPr marL="0" indent="0">
              <a:buNone/>
            </a:pPr>
            <a:r>
              <a:rPr lang="en-US" sz="900" b="1" dirty="0">
                <a:solidFill>
                  <a:srgbClr val="9AA3C2"/>
                </a:solidFill>
                <a:latin typeface="Courier New" pitchFamily="34" charset="0"/>
                <a:ea typeface="Courier New" pitchFamily="34" charset="-122"/>
                <a:cs typeface="Courier New" pitchFamily="34" charset="-120"/>
              </a:rPr>
              <a:t>Test after /clear: new chat, same format</a:t>
            </a:r>
            <a:endParaRPr lang="en-US" sz="900" dirty="0"/>
          </a:p>
        </p:txBody>
      </p:sp>
      <p:sp>
        <p:nvSpPr>
          <p:cNvPr id="21" name="skill test code"/>
          <p:cNvSpPr txBox="1"/>
          <p:nvPr/>
        </p:nvSpPr>
        <p:spPr>
          <a:xfrm>
            <a:off x="4828032" y="3182112"/>
            <a:ext cx="3694176" cy="1344168"/>
          </a:xfrm>
          <a:prstGeom prst="rect">
            <a:avLst/>
          </a:prstGeom>
          <a:noFill/>
          <a:ln/>
        </p:spPr>
        <p:txBody>
          <a:bodyPr wrap="square" lIns="0" tIns="0" rIns="0" bIns="0" rtlCol="0" anchor="t"/>
          <a:lstStyle/>
          <a:p>
            <a:pPr marL="0" indent="0">
              <a:buNone/>
            </a:pPr>
            <a:r>
              <a:rPr lang="en-US" sz="900" dirty="0">
                <a:solidFill>
                  <a:srgbClr val="E6E9F5"/>
                </a:solidFill>
                <a:latin typeface="Courier New" pitchFamily="34" charset="0"/>
                <a:ea typeface="Courier New" pitchFamily="34" charset="-122"/>
                <a:cs typeface="Courier New" pitchFamily="34" charset="-120"/>
              </a:rPr>
              <a:t>&gt; Use the export-services skill to</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  download everything</a:t>
            </a:r>
            <a:endParaRPr lang="en-US" sz="900" dirty="0"/>
          </a:p>
          <a:p>
            <a:pPr marL="0" indent="0">
              <a:buNone/>
            </a:pPr>
            <a:endParaRPr lang="en-US" sz="900" dirty="0"/>
          </a:p>
          <a:p>
            <a:pPr marL="0" indent="0">
              <a:buNone/>
            </a:pPr>
            <a:r>
              <a:rPr lang="en-US" sz="900" dirty="0">
                <a:solidFill>
                  <a:srgbClr val="F9A27E"/>
                </a:solidFill>
                <a:latin typeface="Courier New" pitchFamily="34" charset="0"/>
                <a:ea typeface="Courier New" pitchFamily="34" charset="-122"/>
                <a:cs typeface="Courier New" pitchFamily="34" charset="-120"/>
              </a:rPr>
              <a:t>$ python3 dashboard/server.py --search ""</a:t>
            </a:r>
            <a:endParaRPr lang="en-US" sz="900" dirty="0"/>
          </a:p>
          <a:p>
            <a:pPr marL="0" indent="0">
              <a:buNone/>
            </a:pPr>
            <a:r>
              <a:rPr lang="en-US" sz="900" dirty="0">
                <a:solidFill>
                  <a:srgbClr val="E6E9F5"/>
                </a:solidFill>
                <a:latin typeface="Courier New" pitchFamily="34" charset="0"/>
                <a:ea typeface="Courier New" pitchFamily="34" charset="-122"/>
                <a:cs typeface="Courier New" pitchFamily="34" charset="-120"/>
              </a:rPr>
              <a:t>gmail 10   github 10   notion 10   supabase 10</a:t>
            </a:r>
            <a:endParaRPr lang="en-US" sz="900" dirty="0"/>
          </a:p>
        </p:txBody>
      </p:sp>
      <p:sp>
        <p:nvSpPr>
          <p:cNvPr id="25" name="Slide Number Placeholder 0"/>
          <p:cNvSpPr>
            <a:spLocks noGrp="1"/>
          </p:cNvSpPr>
          <p:nvPr>
            <p:ph type="sldNum" sz="quarter" idx="4294967295"/>
          </p:nvPr>
        </p:nvSpPr>
        <p:spPr>
          <a:xfrm>
            <a:off x="8321040" y="4828032"/>
            <a:ext cx="36576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100" dirty="0">
                <a:solidFill>
                  <a:schemeClr val="accent1"/>
                </a:solidFill>
              </a:rPr>
              <a:t>LOCAL DASHBOARD</a:t>
            </a:r>
            <a:endParaRPr lang="en-US" sz="1100" dirty="0"/>
          </a:p>
        </p:txBody>
      </p:sp>
      <p:sp>
        <p:nvSpPr>
          <p:cNvPr id="3" name="Text 0"/>
          <p:cNvSpPr>
            <a:spLocks noGrp="1"/>
          </p:cNvSpPr>
          <p:nvPr>
            <p:ph type="title" idx="101" hasCustomPrompt="1"/>
          </p:nvPr>
        </p:nvSpPr>
        <p:spPr>
          <a:xfrm>
            <a:off x="457200" y="475488"/>
            <a:ext cx="8229600" cy="54864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One search, four services</a:t>
            </a:r>
            <a:endParaRPr lang="en-US" sz="2600" dirty="0"/>
          </a:p>
        </p:txBody>
      </p:sp>
      <p:sp>
        <p:nvSpPr>
          <p:cNvPr id="4" name="Dashboard search screenshot frame"/>
          <p:cNvSpPr/>
          <p:nvPr/>
        </p:nvSpPr>
        <p:spPr>
          <a:xfrm>
            <a:off x="420624" y="1152144"/>
            <a:ext cx="5193792" cy="2953512"/>
          </a:xfrm>
          <a:prstGeom prst="roundRect">
            <a:avLst>
              <a:gd name="adj" fmla="val 2477"/>
            </a:avLst>
          </a:prstGeom>
          <a:solidFill>
            <a:srgbClr val="FFFFFF"/>
          </a:solidFill>
          <a:ln w="9525">
            <a:solidFill>
              <a:srgbClr val="D9DCE5"/>
            </a:solidFill>
            <a:prstDash val="solid"/>
          </a:ln>
          <a:effectLst>
            <a:outerShdw blurRad="101600" dist="25400" dir="5400000" algn="bl" rotWithShape="0">
              <a:srgbClr val="000000">
                <a:alpha val="14000"/>
              </a:srgbClr>
            </a:outerShdw>
          </a:effectLst>
        </p:spPr>
        <p:txBody>
          <a:bodyPr/>
          <a:lstStyle/>
          <a:p>
            <a:endParaRPr lang="en-US"/>
          </a:p>
        </p:txBody>
      </p:sp>
      <p:pic>
        <p:nvPicPr>
          <p:cNvPr id="5" name="Dashboard search screenshot" descr="Dashboard search for Maria Prueba returning one result from each service"/>
          <p:cNvPicPr>
            <a:picLocks noChangeAspect="1"/>
          </p:cNvPicPr>
          <p:nvPr/>
        </p:nvPicPr>
        <p:blipFill>
          <a:blip r:embed="rId3"/>
          <a:stretch>
            <a:fillRect/>
          </a:stretch>
        </p:blipFill>
        <p:spPr>
          <a:xfrm>
            <a:off x="457200" y="1188720"/>
            <a:ext cx="5120640" cy="2880360"/>
          </a:xfrm>
          <a:prstGeom prst="rect">
            <a:avLst/>
          </a:prstGeom>
        </p:spPr>
      </p:pic>
      <p:sp>
        <p:nvSpPr>
          <p:cNvPr id="6" name="Dashboard caption"/>
          <p:cNvSpPr txBox="1"/>
          <p:nvPr/>
        </p:nvSpPr>
        <p:spPr>
          <a:xfrm>
            <a:off x="457200" y="4160520"/>
            <a:ext cx="5120640" cy="274320"/>
          </a:xfrm>
          <a:prstGeom prst="rect">
            <a:avLst/>
          </a:prstGeom>
          <a:noFill/>
          <a:ln/>
        </p:spPr>
        <p:txBody>
          <a:bodyPr wrap="square" lIns="0" tIns="0" rIns="0" bIns="0" rtlCol="0" anchor="ctr"/>
          <a:lstStyle/>
          <a:p>
            <a:pPr marL="0" indent="0">
              <a:buNone/>
            </a:pPr>
            <a:r>
              <a:rPr lang="en-US" sz="1000" i="1" dirty="0">
                <a:solidFill>
                  <a:schemeClr val="tx2"/>
                </a:solidFill>
              </a:rPr>
              <a:t>Search for “Maria Prueba”: one result from each service</a:t>
            </a:r>
            <a:endParaRPr lang="en-US" sz="1000" dirty="0"/>
          </a:p>
        </p:txBody>
      </p:sp>
      <p:sp>
        <p:nvSpPr>
          <p:cNvPr id="7" name="Big number"/>
          <p:cNvSpPr txBox="1"/>
          <p:nvPr/>
        </p:nvSpPr>
        <p:spPr>
          <a:xfrm>
            <a:off x="5943600" y="1097280"/>
            <a:ext cx="914400" cy="868680"/>
          </a:xfrm>
          <a:prstGeom prst="rect">
            <a:avLst/>
          </a:prstGeom>
          <a:noFill/>
          <a:ln/>
        </p:spPr>
        <p:txBody>
          <a:bodyPr wrap="square" lIns="0" tIns="0" rIns="0" bIns="0" rtlCol="0" anchor="ctr"/>
          <a:lstStyle/>
          <a:p>
            <a:pPr marL="0" indent="0">
              <a:buNone/>
            </a:pPr>
            <a:r>
              <a:rPr lang="en-US" sz="6000" b="1" dirty="0">
                <a:solidFill>
                  <a:schemeClr val="accent1"/>
                </a:solidFill>
                <a:latin typeface="Arial" pitchFamily="34" charset="0"/>
                <a:ea typeface="Arial" pitchFamily="34" charset="-122"/>
                <a:cs typeface="Arial" pitchFamily="34" charset="-120"/>
              </a:rPr>
              <a:t>4</a:t>
            </a:r>
            <a:endParaRPr lang="en-US" sz="6000" dirty="0"/>
          </a:p>
        </p:txBody>
      </p:sp>
      <p:sp>
        <p:nvSpPr>
          <p:cNvPr id="8" name="Big number label"/>
          <p:cNvSpPr txBox="1"/>
          <p:nvPr/>
        </p:nvSpPr>
        <p:spPr>
          <a:xfrm>
            <a:off x="6766560" y="1280160"/>
            <a:ext cx="1920240" cy="548640"/>
          </a:xfrm>
          <a:prstGeom prst="rect">
            <a:avLst/>
          </a:prstGeom>
          <a:noFill/>
          <a:ln/>
        </p:spPr>
        <p:txBody>
          <a:bodyPr wrap="square" lIns="0" tIns="0" rIns="0" bIns="0" rtlCol="0" anchor="ctr"/>
          <a:lstStyle/>
          <a:p>
            <a:pPr marL="0" indent="0">
              <a:buNone/>
            </a:pPr>
            <a:r>
              <a:rPr lang="en-US" sz="1200" dirty="0">
                <a:solidFill>
                  <a:schemeClr val="tx2"/>
                </a:solidFill>
              </a:rPr>
              <a:t>results, one per service, from a single search</a:t>
            </a:r>
            <a:endParaRPr lang="en-US" sz="1200" dirty="0"/>
          </a:p>
        </p:txBody>
      </p:sp>
      <p:sp>
        <p:nvSpPr>
          <p:cNvPr id="9" name="Dashboard bullets"/>
          <p:cNvSpPr txBox="1"/>
          <p:nvPr/>
        </p:nvSpPr>
        <p:spPr>
          <a:xfrm>
            <a:off x="5943600" y="2148840"/>
            <a:ext cx="2743200" cy="2286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Search box runs over all dataExports/ folders at once</a:t>
            </a:r>
            <a:endParaRPr lang="en-US" sz="1200" dirty="0"/>
          </a:p>
          <a:p>
            <a:pPr marL="342900" indent="-342900">
              <a:spcAft>
                <a:spcPts val="600"/>
              </a:spcAft>
              <a:buSzPct val="100000"/>
              <a:buChar char="•"/>
            </a:pPr>
            <a:r>
              <a:rPr lang="en-US" sz="1200" dirty="0">
                <a:solidFill>
                  <a:schemeClr val="tx1"/>
                </a:solidFill>
              </a:rPr>
              <a:t>Checkboxes turn each service on or off</a:t>
            </a:r>
            <a:endParaRPr lang="en-US" sz="1200" dirty="0"/>
          </a:p>
          <a:p>
            <a:pPr marL="342900" indent="-342900">
              <a:spcAft>
                <a:spcPts val="600"/>
              </a:spcAft>
              <a:buSzPct val="100000"/>
              <a:buChar char="•"/>
            </a:pPr>
            <a:r>
              <a:rPr lang="en-US" sz="1200" dirty="0">
                <a:solidFill>
                  <a:schemeClr val="tx1"/>
                </a:solidFill>
              </a:rPr>
              <a:t>Colored badge shows which service each result comes from</a:t>
            </a:r>
            <a:endParaRPr lang="en-US" sz="1200" dirty="0"/>
          </a:p>
          <a:p>
            <a:pPr marL="342900" indent="-342900">
              <a:spcAft>
                <a:spcPts val="600"/>
              </a:spcAft>
              <a:buSzPct val="100000"/>
              <a:buChar char="•"/>
            </a:pPr>
            <a:r>
              <a:rPr lang="en-US" sz="1200" dirty="0">
                <a:solidFill>
                  <a:schemeClr val="tx1"/>
                </a:solidFill>
              </a:rPr>
              <a:t>Click a file name to see the saved file</a:t>
            </a:r>
            <a:endParaRPr lang="en-US" sz="1200" dirty="0"/>
          </a:p>
          <a:p>
            <a:pPr marL="342900" indent="-342900">
              <a:spcAft>
                <a:spcPts val="600"/>
              </a:spcAft>
              <a:buSzPct val="100000"/>
              <a:buChar char="•"/>
            </a:pPr>
            <a:r>
              <a:rPr lang="en-US" sz="1200" dirty="0">
                <a:solidFill>
                  <a:schemeClr val="tx1"/>
                </a:solidFill>
              </a:rPr>
              <a:t>Runs locally: python3 dashboard/server.py</a:t>
            </a:r>
            <a:endParaRPr lang="en-US" sz="1200" dirty="0"/>
          </a:p>
        </p:txBody>
      </p:sp>
      <p:sp>
        <p:nvSpPr>
          <p:cNvPr id="25" name="Slide Number Placeholder 0"/>
          <p:cNvSpPr>
            <a:spLocks noGrp="1"/>
          </p:cNvSpPr>
          <p:nvPr>
            <p:ph type="sldNum" sz="quarter" idx="4294967295"/>
          </p:nvPr>
        </p:nvSpPr>
        <p:spPr>
          <a:xfrm>
            <a:off x="8321040" y="4828032"/>
            <a:ext cx="36576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100" dirty="0">
                <a:solidFill>
                  <a:schemeClr val="accent1"/>
                </a:solidFill>
              </a:rPr>
              <a:t>SECURITY</a:t>
            </a:r>
            <a:endParaRPr lang="en-US" sz="1100" dirty="0"/>
          </a:p>
        </p:txBody>
      </p:sp>
      <p:sp>
        <p:nvSpPr>
          <p:cNvPr id="3" name="Text 0"/>
          <p:cNvSpPr>
            <a:spLocks noGrp="1"/>
          </p:cNvSpPr>
          <p:nvPr>
            <p:ph type="title" idx="101" hasCustomPrompt="1"/>
          </p:nvPr>
        </p:nvSpPr>
        <p:spPr>
          <a:xfrm>
            <a:off x="457200" y="475488"/>
            <a:ext cx="8229600" cy="54864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A public repo with zero secrets in it</a:t>
            </a:r>
            <a:endParaRPr lang="en-US" sz="2600" dirty="0"/>
          </a:p>
        </p:txBody>
      </p:sp>
      <p:sp>
        <p:nvSpPr>
          <p:cNvPr id="4" name="sec card 0"/>
          <p:cNvSpPr/>
          <p:nvPr/>
        </p:nvSpPr>
        <p:spPr>
          <a:xfrm>
            <a:off x="457200" y="1234440"/>
            <a:ext cx="4023360" cy="1463040"/>
          </a:xfrm>
          <a:prstGeom prst="roundRect">
            <a:avLst>
              <a:gd name="adj" fmla="val 6250"/>
            </a:avLst>
          </a:prstGeom>
          <a:solidFill>
            <a:srgbClr val="FFFFFF"/>
          </a:solidFill>
          <a:ln w="12700">
            <a:solidFill>
              <a:srgbClr val="E1E4EC"/>
            </a:solidFill>
            <a:prstDash val="solid"/>
          </a:ln>
          <a:effectLst>
            <a:outerShdw blurRad="101600" dist="25400" dir="5400000" algn="bl" rotWithShape="0">
              <a:srgbClr val="000000">
                <a:alpha val="14000"/>
              </a:srgbClr>
            </a:outerShdw>
          </a:effectLst>
        </p:spPr>
        <p:txBody>
          <a:bodyPr/>
          <a:lstStyle/>
          <a:p>
            <a:endParaRPr lang="en-US"/>
          </a:p>
        </p:txBody>
      </p:sp>
      <p:sp>
        <p:nvSpPr>
          <p:cNvPr id="5" name="sec 0 circle"/>
          <p:cNvSpPr/>
          <p:nvPr/>
        </p:nvSpPr>
        <p:spPr>
          <a:xfrm>
            <a:off x="685800" y="1508760"/>
            <a:ext cx="640080" cy="640080"/>
          </a:xfrm>
          <a:prstGeom prst="ellipse">
            <a:avLst/>
          </a:prstGeom>
          <a:solidFill>
            <a:srgbClr val="F26B3A"/>
          </a:solidFill>
          <a:ln w="12700">
            <a:solidFill>
              <a:srgbClr val="F26B3A"/>
            </a:solidFill>
            <a:prstDash val="solid"/>
          </a:ln>
        </p:spPr>
        <p:txBody>
          <a:bodyPr/>
          <a:lstStyle/>
          <a:p>
            <a:endParaRPr lang="en-US"/>
          </a:p>
        </p:txBody>
      </p:sp>
      <p:pic>
        <p:nvPicPr>
          <p:cNvPr id="6" name="sec 0 icon" descr="preencoded.png"/>
          <p:cNvPicPr>
            <a:picLocks noChangeAspect="1"/>
          </p:cNvPicPr>
          <p:nvPr/>
        </p:nvPicPr>
        <p:blipFill>
          <a:blip r:embed="rId3"/>
          <a:stretch>
            <a:fillRect/>
          </a:stretch>
        </p:blipFill>
        <p:spPr>
          <a:xfrm>
            <a:off x="852221" y="1675181"/>
            <a:ext cx="307238" cy="307238"/>
          </a:xfrm>
          <a:prstGeom prst="rect">
            <a:avLst/>
          </a:prstGeom>
        </p:spPr>
      </p:pic>
      <p:sp>
        <p:nvSpPr>
          <p:cNvPr id="7" name="sec text 0"/>
          <p:cNvSpPr txBox="1"/>
          <p:nvPr/>
        </p:nvSpPr>
        <p:spPr>
          <a:xfrm>
            <a:off x="1508760" y="1399032"/>
            <a:ext cx="2834640" cy="1143000"/>
          </a:xfrm>
          <a:prstGeom prst="rect">
            <a:avLst/>
          </a:prstGeom>
          <a:noFill/>
          <a:ln/>
        </p:spPr>
        <p:txBody>
          <a:bodyPr wrap="square" lIns="0" tIns="0" rIns="0" bIns="0" rtlCol="0" anchor="ctr"/>
          <a:lstStyle/>
          <a:p>
            <a:pPr marL="0" indent="0">
              <a:buNone/>
            </a:pPr>
            <a:r>
              <a:rPr lang="en-US" sz="1400" b="1" dirty="0">
                <a:solidFill>
                  <a:schemeClr val="tx1"/>
                </a:solidFill>
              </a:rPr>
              <a:t>Test accounts only</a:t>
            </a:r>
            <a:endParaRPr lang="en-US" sz="1400" dirty="0"/>
          </a:p>
          <a:p>
            <a:pPr marL="0" indent="0">
              <a:buNone/>
            </a:pPr>
            <a:r>
              <a:rPr lang="en-US" sz="1150" dirty="0">
                <a:solidFill>
                  <a:schemeClr val="tx2"/>
                </a:solidFill>
              </a:rPr>
              <a:t>New Gmail, GitHub, Notion and Supabase accounts; no personal or school data</a:t>
            </a:r>
            <a:endParaRPr lang="en-US" sz="1400" dirty="0"/>
          </a:p>
        </p:txBody>
      </p:sp>
      <p:sp>
        <p:nvSpPr>
          <p:cNvPr id="8" name="sec card 1"/>
          <p:cNvSpPr/>
          <p:nvPr/>
        </p:nvSpPr>
        <p:spPr>
          <a:xfrm>
            <a:off x="4663440" y="1234440"/>
            <a:ext cx="4023360" cy="1463040"/>
          </a:xfrm>
          <a:prstGeom prst="roundRect">
            <a:avLst>
              <a:gd name="adj" fmla="val 6250"/>
            </a:avLst>
          </a:prstGeom>
          <a:solidFill>
            <a:srgbClr val="FFFFFF"/>
          </a:solidFill>
          <a:ln w="12700">
            <a:solidFill>
              <a:srgbClr val="E1E4EC"/>
            </a:solidFill>
            <a:prstDash val="solid"/>
          </a:ln>
          <a:effectLst>
            <a:outerShdw blurRad="101600" dist="25400" dir="5400000" algn="bl" rotWithShape="0">
              <a:srgbClr val="000000">
                <a:alpha val="14000"/>
              </a:srgbClr>
            </a:outerShdw>
          </a:effectLst>
        </p:spPr>
        <p:txBody>
          <a:bodyPr/>
          <a:lstStyle/>
          <a:p>
            <a:endParaRPr lang="en-US"/>
          </a:p>
        </p:txBody>
      </p:sp>
      <p:sp>
        <p:nvSpPr>
          <p:cNvPr id="9" name="sec 1 circle"/>
          <p:cNvSpPr/>
          <p:nvPr/>
        </p:nvSpPr>
        <p:spPr>
          <a:xfrm>
            <a:off x="4892040" y="1508760"/>
            <a:ext cx="640080" cy="640080"/>
          </a:xfrm>
          <a:prstGeom prst="ellipse">
            <a:avLst/>
          </a:prstGeom>
          <a:solidFill>
            <a:srgbClr val="141B34"/>
          </a:solidFill>
          <a:ln w="12700">
            <a:solidFill>
              <a:srgbClr val="141B34"/>
            </a:solidFill>
            <a:prstDash val="solid"/>
          </a:ln>
        </p:spPr>
        <p:txBody>
          <a:bodyPr/>
          <a:lstStyle/>
          <a:p>
            <a:endParaRPr lang="en-US"/>
          </a:p>
        </p:txBody>
      </p:sp>
      <p:pic>
        <p:nvPicPr>
          <p:cNvPr id="10" name="sec 1 icon" descr="preencoded.png"/>
          <p:cNvPicPr>
            <a:picLocks noChangeAspect="1"/>
          </p:cNvPicPr>
          <p:nvPr/>
        </p:nvPicPr>
        <p:blipFill>
          <a:blip r:embed="rId4"/>
          <a:stretch>
            <a:fillRect/>
          </a:stretch>
        </p:blipFill>
        <p:spPr>
          <a:xfrm>
            <a:off x="5058461" y="1675181"/>
            <a:ext cx="307238" cy="307238"/>
          </a:xfrm>
          <a:prstGeom prst="rect">
            <a:avLst/>
          </a:prstGeom>
        </p:spPr>
      </p:pic>
      <p:sp>
        <p:nvSpPr>
          <p:cNvPr id="11" name="sec text 1"/>
          <p:cNvSpPr txBox="1"/>
          <p:nvPr/>
        </p:nvSpPr>
        <p:spPr>
          <a:xfrm>
            <a:off x="5715000" y="1399032"/>
            <a:ext cx="2834640" cy="1143000"/>
          </a:xfrm>
          <a:prstGeom prst="rect">
            <a:avLst/>
          </a:prstGeom>
          <a:noFill/>
          <a:ln/>
        </p:spPr>
        <p:txBody>
          <a:bodyPr wrap="square" lIns="0" tIns="0" rIns="0" bIns="0" rtlCol="0" anchor="ctr"/>
          <a:lstStyle/>
          <a:p>
            <a:pPr marL="0" indent="0">
              <a:buNone/>
            </a:pPr>
            <a:r>
              <a:rPr lang="en-US" sz="1400" b="1" dirty="0">
                <a:solidFill>
                  <a:schemeClr val="tx1"/>
                </a:solidFill>
              </a:rPr>
              <a:t>Secrets stay in the shell</a:t>
            </a:r>
            <a:endParaRPr lang="en-US" sz="1400" dirty="0"/>
          </a:p>
          <a:p>
            <a:pPr marL="0" indent="0">
              <a:buNone/>
            </a:pPr>
            <a:r>
              <a:rPr lang="en-US" sz="1150" dirty="0">
                <a:solidFill>
                  <a:schemeClr val="tx2"/>
                </a:solidFill>
              </a:rPr>
              <a:t>GitHub token is an environment variable; .mcp.json only has a ${...} placeholder. Gmail needs no secret at all: it's an OAuth connector tied to the account</a:t>
            </a:r>
            <a:endParaRPr lang="en-US" sz="1400" dirty="0"/>
          </a:p>
        </p:txBody>
      </p:sp>
      <p:sp>
        <p:nvSpPr>
          <p:cNvPr id="12" name="sec card 2"/>
          <p:cNvSpPr/>
          <p:nvPr/>
        </p:nvSpPr>
        <p:spPr>
          <a:xfrm>
            <a:off x="457200" y="2926080"/>
            <a:ext cx="4023360" cy="1463040"/>
          </a:xfrm>
          <a:prstGeom prst="roundRect">
            <a:avLst>
              <a:gd name="adj" fmla="val 6250"/>
            </a:avLst>
          </a:prstGeom>
          <a:solidFill>
            <a:srgbClr val="FFFFFF"/>
          </a:solidFill>
          <a:ln w="12700">
            <a:solidFill>
              <a:srgbClr val="E1E4EC"/>
            </a:solidFill>
            <a:prstDash val="solid"/>
          </a:ln>
          <a:effectLst>
            <a:outerShdw blurRad="101600" dist="25400" dir="5400000" algn="bl" rotWithShape="0">
              <a:srgbClr val="000000">
                <a:alpha val="14000"/>
              </a:srgbClr>
            </a:outerShdw>
          </a:effectLst>
        </p:spPr>
        <p:txBody>
          <a:bodyPr/>
          <a:lstStyle/>
          <a:p>
            <a:endParaRPr lang="en-US"/>
          </a:p>
        </p:txBody>
      </p:sp>
      <p:sp>
        <p:nvSpPr>
          <p:cNvPr id="13" name="sec 2 circle"/>
          <p:cNvSpPr/>
          <p:nvPr/>
        </p:nvSpPr>
        <p:spPr>
          <a:xfrm>
            <a:off x="685800" y="3200400"/>
            <a:ext cx="640080" cy="640080"/>
          </a:xfrm>
          <a:prstGeom prst="ellipse">
            <a:avLst/>
          </a:prstGeom>
          <a:solidFill>
            <a:srgbClr val="141B34"/>
          </a:solidFill>
          <a:ln w="12700">
            <a:solidFill>
              <a:srgbClr val="141B34"/>
            </a:solidFill>
            <a:prstDash val="solid"/>
          </a:ln>
        </p:spPr>
        <p:txBody>
          <a:bodyPr/>
          <a:lstStyle/>
          <a:p>
            <a:endParaRPr lang="en-US"/>
          </a:p>
        </p:txBody>
      </p:sp>
      <p:pic>
        <p:nvPicPr>
          <p:cNvPr id="14" name="sec 2 icon" descr="preencoded.png"/>
          <p:cNvPicPr>
            <a:picLocks noChangeAspect="1"/>
          </p:cNvPicPr>
          <p:nvPr/>
        </p:nvPicPr>
        <p:blipFill>
          <a:blip r:embed="rId5"/>
          <a:stretch>
            <a:fillRect/>
          </a:stretch>
        </p:blipFill>
        <p:spPr>
          <a:xfrm>
            <a:off x="852221" y="3366821"/>
            <a:ext cx="307238" cy="307238"/>
          </a:xfrm>
          <a:prstGeom prst="rect">
            <a:avLst/>
          </a:prstGeom>
        </p:spPr>
      </p:pic>
      <p:sp>
        <p:nvSpPr>
          <p:cNvPr id="15" name="sec text 2"/>
          <p:cNvSpPr txBox="1"/>
          <p:nvPr/>
        </p:nvSpPr>
        <p:spPr>
          <a:xfrm>
            <a:off x="1508760" y="3090672"/>
            <a:ext cx="2834640" cy="1143000"/>
          </a:xfrm>
          <a:prstGeom prst="rect">
            <a:avLst/>
          </a:prstGeom>
          <a:noFill/>
          <a:ln/>
        </p:spPr>
        <p:txBody>
          <a:bodyPr wrap="square" lIns="0" tIns="0" rIns="0" bIns="0" rtlCol="0" anchor="ctr"/>
          <a:lstStyle/>
          <a:p>
            <a:pPr marL="0" indent="0">
              <a:buNone/>
            </a:pPr>
            <a:r>
              <a:rPr lang="en-US" sz="1400" b="1" dirty="0">
                <a:solidFill>
                  <a:schemeClr val="tx1"/>
                </a:solidFill>
              </a:rPr>
              <a:t>Read-only where possible</a:t>
            </a:r>
            <a:endParaRPr lang="en-US" sz="1400" dirty="0"/>
          </a:p>
          <a:p>
            <a:pPr marL="0" indent="0">
              <a:buNone/>
            </a:pPr>
            <a:r>
              <a:rPr lang="en-US" sz="1150" dirty="0">
                <a:solidFill>
                  <a:schemeClr val="tx2"/>
                </a:solidFill>
              </a:rPr>
              <a:t>Supabase MCP runs with read_only=true; the skill only uses read tools</a:t>
            </a:r>
            <a:endParaRPr lang="en-US" sz="1400" dirty="0"/>
          </a:p>
        </p:txBody>
      </p:sp>
      <p:sp>
        <p:nvSpPr>
          <p:cNvPr id="16" name="sec card 3"/>
          <p:cNvSpPr/>
          <p:nvPr/>
        </p:nvSpPr>
        <p:spPr>
          <a:xfrm>
            <a:off x="4663440" y="2926080"/>
            <a:ext cx="4023360" cy="1463040"/>
          </a:xfrm>
          <a:prstGeom prst="roundRect">
            <a:avLst>
              <a:gd name="adj" fmla="val 6250"/>
            </a:avLst>
          </a:prstGeom>
          <a:solidFill>
            <a:srgbClr val="FFFFFF"/>
          </a:solidFill>
          <a:ln w="12700">
            <a:solidFill>
              <a:srgbClr val="E1E4EC"/>
            </a:solidFill>
            <a:prstDash val="solid"/>
          </a:ln>
          <a:effectLst>
            <a:outerShdw blurRad="101600" dist="25400" dir="5400000" algn="bl" rotWithShape="0">
              <a:srgbClr val="000000">
                <a:alpha val="14000"/>
              </a:srgbClr>
            </a:outerShdw>
          </a:effectLst>
        </p:spPr>
        <p:txBody>
          <a:bodyPr/>
          <a:lstStyle/>
          <a:p>
            <a:endParaRPr lang="en-US"/>
          </a:p>
        </p:txBody>
      </p:sp>
      <p:sp>
        <p:nvSpPr>
          <p:cNvPr id="17" name="sec 3 circle"/>
          <p:cNvSpPr/>
          <p:nvPr/>
        </p:nvSpPr>
        <p:spPr>
          <a:xfrm>
            <a:off x="4892040" y="3200400"/>
            <a:ext cx="640080" cy="640080"/>
          </a:xfrm>
          <a:prstGeom prst="ellipse">
            <a:avLst/>
          </a:prstGeom>
          <a:solidFill>
            <a:srgbClr val="141B34"/>
          </a:solidFill>
          <a:ln w="12700">
            <a:solidFill>
              <a:srgbClr val="141B34"/>
            </a:solidFill>
            <a:prstDash val="solid"/>
          </a:ln>
        </p:spPr>
        <p:txBody>
          <a:bodyPr/>
          <a:lstStyle/>
          <a:p>
            <a:endParaRPr lang="en-US"/>
          </a:p>
        </p:txBody>
      </p:sp>
      <p:pic>
        <p:nvPicPr>
          <p:cNvPr id="18" name="sec 3 icon" descr="preencoded.png"/>
          <p:cNvPicPr>
            <a:picLocks noChangeAspect="1"/>
          </p:cNvPicPr>
          <p:nvPr/>
        </p:nvPicPr>
        <p:blipFill>
          <a:blip r:embed="rId6"/>
          <a:stretch>
            <a:fillRect/>
          </a:stretch>
        </p:blipFill>
        <p:spPr>
          <a:xfrm>
            <a:off x="5058461" y="3366821"/>
            <a:ext cx="307238" cy="307238"/>
          </a:xfrm>
          <a:prstGeom prst="rect">
            <a:avLst/>
          </a:prstGeom>
        </p:spPr>
      </p:pic>
      <p:sp>
        <p:nvSpPr>
          <p:cNvPr id="19" name="sec text 3"/>
          <p:cNvSpPr txBox="1"/>
          <p:nvPr/>
        </p:nvSpPr>
        <p:spPr>
          <a:xfrm>
            <a:off x="5715000" y="3090672"/>
            <a:ext cx="2834640" cy="1143000"/>
          </a:xfrm>
          <a:prstGeom prst="rect">
            <a:avLst/>
          </a:prstGeom>
          <a:noFill/>
          <a:ln/>
        </p:spPr>
        <p:txBody>
          <a:bodyPr wrap="square" lIns="0" tIns="0" rIns="0" bIns="0" rtlCol="0" anchor="ctr"/>
          <a:lstStyle/>
          <a:p>
            <a:pPr marL="0" indent="0">
              <a:buNone/>
            </a:pPr>
            <a:r>
              <a:rPr lang="en-US" sz="1400" b="1" dirty="0">
                <a:solidFill>
                  <a:schemeClr val="tx1"/>
                </a:solidFill>
              </a:rPr>
              <a:t>Checked before every commit</a:t>
            </a:r>
            <a:endParaRPr lang="en-US" sz="1400" dirty="0"/>
          </a:p>
          <a:p>
            <a:pPr marL="0" indent="0">
              <a:buNone/>
            </a:pPr>
            <a:r>
              <a:rPr lang="en-US" sz="1150" dirty="0">
                <a:solidFill>
                  <a:schemeClr val="tx2"/>
                </a:solidFill>
              </a:rPr>
              <a:t>The skill scans exported files and git status for tokens; .gitignore blocks .env</a:t>
            </a:r>
            <a:endParaRPr lang="en-US" sz="1400" dirty="0"/>
          </a:p>
        </p:txBody>
      </p:sp>
      <p:sp>
        <p:nvSpPr>
          <p:cNvPr id="25" name="Slide Number Placeholder 0"/>
          <p:cNvSpPr>
            <a:spLocks noGrp="1"/>
          </p:cNvSpPr>
          <p:nvPr>
            <p:ph type="sldNum" sz="quarter" idx="4294967295"/>
          </p:nvPr>
        </p:nvSpPr>
        <p:spPr>
          <a:xfrm>
            <a:off x="8321040" y="4828032"/>
            <a:ext cx="36576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100" dirty="0">
                <a:solidFill>
                  <a:schemeClr val="accent1"/>
                </a:solidFill>
              </a:rPr>
              <a:t>WRAP-UP</a:t>
            </a:r>
            <a:endParaRPr lang="en-US" sz="1100" dirty="0"/>
          </a:p>
        </p:txBody>
      </p:sp>
      <p:sp>
        <p:nvSpPr>
          <p:cNvPr id="3" name="Text 0"/>
          <p:cNvSpPr>
            <a:spLocks noGrp="1"/>
          </p:cNvSpPr>
          <p:nvPr>
            <p:ph type="title" idx="101" hasCustomPrompt="1"/>
          </p:nvPr>
        </p:nvSpPr>
        <p:spPr>
          <a:xfrm>
            <a:off x="457200" y="475488"/>
            <a:ext cx="8229600" cy="54864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Challenges and lessons learned</a:t>
            </a:r>
            <a:endParaRPr lang="en-US" sz="2600" dirty="0"/>
          </a:p>
        </p:txBody>
      </p:sp>
      <p:sp>
        <p:nvSpPr>
          <p:cNvPr id="4" name="Challenges header"/>
          <p:cNvSpPr txBox="1"/>
          <p:nvPr/>
        </p:nvSpPr>
        <p:spPr>
          <a:xfrm>
            <a:off x="457200" y="1188720"/>
            <a:ext cx="3840480" cy="365760"/>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Challenges</a:t>
            </a:r>
            <a:endParaRPr lang="en-US" sz="1800" dirty="0"/>
          </a:p>
        </p:txBody>
      </p:sp>
      <p:sp>
        <p:nvSpPr>
          <p:cNvPr id="5" name="Challenges card 0"/>
          <p:cNvSpPr/>
          <p:nvPr/>
        </p:nvSpPr>
        <p:spPr>
          <a:xfrm>
            <a:off x="457200" y="1691640"/>
            <a:ext cx="4023360" cy="841248"/>
          </a:xfrm>
          <a:prstGeom prst="roundRect">
            <a:avLst>
              <a:gd name="adj" fmla="val 8696"/>
            </a:avLst>
          </a:prstGeom>
          <a:solidFill>
            <a:srgbClr val="F3F4F8"/>
          </a:solidFill>
          <a:ln w="12700">
            <a:solidFill>
              <a:srgbClr val="F3F4F8"/>
            </a:solidFill>
            <a:prstDash val="solid"/>
          </a:ln>
        </p:spPr>
        <p:txBody>
          <a:bodyPr/>
          <a:lstStyle/>
          <a:p>
            <a:endParaRPr lang="en-US"/>
          </a:p>
        </p:txBody>
      </p:sp>
      <p:sp>
        <p:nvSpPr>
          <p:cNvPr id="6" name="Challenges 0 circle"/>
          <p:cNvSpPr/>
          <p:nvPr/>
        </p:nvSpPr>
        <p:spPr>
          <a:xfrm>
            <a:off x="594360" y="1911096"/>
            <a:ext cx="402336" cy="402336"/>
          </a:xfrm>
          <a:prstGeom prst="ellipse">
            <a:avLst/>
          </a:prstGeom>
          <a:solidFill>
            <a:srgbClr val="F26B3A"/>
          </a:solidFill>
          <a:ln w="12700">
            <a:solidFill>
              <a:srgbClr val="F26B3A"/>
            </a:solidFill>
            <a:prstDash val="solid"/>
          </a:ln>
        </p:spPr>
        <p:txBody>
          <a:bodyPr/>
          <a:lstStyle/>
          <a:p>
            <a:endParaRPr lang="en-US"/>
          </a:p>
        </p:txBody>
      </p:sp>
      <p:pic>
        <p:nvPicPr>
          <p:cNvPr id="7" name="Challenges 0 icon" descr="preencoded.png"/>
          <p:cNvPicPr>
            <a:picLocks noChangeAspect="1"/>
          </p:cNvPicPr>
          <p:nvPr/>
        </p:nvPicPr>
        <p:blipFill>
          <a:blip r:embed="rId3"/>
          <a:stretch>
            <a:fillRect/>
          </a:stretch>
        </p:blipFill>
        <p:spPr>
          <a:xfrm>
            <a:off x="698967" y="2015703"/>
            <a:ext cx="193121" cy="193121"/>
          </a:xfrm>
          <a:prstGeom prst="rect">
            <a:avLst/>
          </a:prstGeom>
        </p:spPr>
      </p:pic>
      <p:sp>
        <p:nvSpPr>
          <p:cNvPr id="8" name="Challenges text 0"/>
          <p:cNvSpPr txBox="1"/>
          <p:nvPr/>
        </p:nvSpPr>
        <p:spPr>
          <a:xfrm>
            <a:off x="1143000" y="1737360"/>
            <a:ext cx="3200400" cy="749808"/>
          </a:xfrm>
          <a:prstGeom prst="rect">
            <a:avLst/>
          </a:prstGeom>
          <a:noFill/>
          <a:ln/>
        </p:spPr>
        <p:txBody>
          <a:bodyPr wrap="square" lIns="0" tIns="0" rIns="0" bIns="0" rtlCol="0" anchor="ctr"/>
          <a:lstStyle/>
          <a:p>
            <a:pPr marL="0" indent="0">
              <a:buNone/>
            </a:pPr>
            <a:r>
              <a:rPr lang="en-US" sz="1000" dirty="0">
                <a:solidFill>
                  <a:schemeClr val="tx1"/>
                </a:solidFill>
              </a:rPr>
              <a:t>Google's own Gmail MCP server needs a Google Cloud project enrolled in Google's Developer Preview Program, so I used Anthropic's own official Gmail connector instead (OAuth, no Google Cloud setup needed)</a:t>
            </a:r>
            <a:endParaRPr lang="en-US" sz="1150" dirty="0"/>
          </a:p>
        </p:txBody>
      </p:sp>
      <p:sp>
        <p:nvSpPr>
          <p:cNvPr id="9" name="Challenges card 1"/>
          <p:cNvSpPr/>
          <p:nvPr/>
        </p:nvSpPr>
        <p:spPr>
          <a:xfrm>
            <a:off x="457200" y="2679192"/>
            <a:ext cx="4023360" cy="841248"/>
          </a:xfrm>
          <a:prstGeom prst="roundRect">
            <a:avLst>
              <a:gd name="adj" fmla="val 8696"/>
            </a:avLst>
          </a:prstGeom>
          <a:solidFill>
            <a:srgbClr val="F3F4F8"/>
          </a:solidFill>
          <a:ln w="12700">
            <a:solidFill>
              <a:srgbClr val="F3F4F8"/>
            </a:solidFill>
            <a:prstDash val="solid"/>
          </a:ln>
        </p:spPr>
        <p:txBody>
          <a:bodyPr/>
          <a:lstStyle/>
          <a:p>
            <a:endParaRPr lang="en-US"/>
          </a:p>
        </p:txBody>
      </p:sp>
      <p:sp>
        <p:nvSpPr>
          <p:cNvPr id="10" name="Challenges 1 circle"/>
          <p:cNvSpPr/>
          <p:nvPr/>
        </p:nvSpPr>
        <p:spPr>
          <a:xfrm>
            <a:off x="594360" y="2898648"/>
            <a:ext cx="402336" cy="402336"/>
          </a:xfrm>
          <a:prstGeom prst="ellipse">
            <a:avLst/>
          </a:prstGeom>
          <a:solidFill>
            <a:srgbClr val="F26B3A"/>
          </a:solidFill>
          <a:ln w="12700">
            <a:solidFill>
              <a:srgbClr val="F26B3A"/>
            </a:solidFill>
            <a:prstDash val="solid"/>
          </a:ln>
        </p:spPr>
        <p:txBody>
          <a:bodyPr/>
          <a:lstStyle/>
          <a:p>
            <a:endParaRPr lang="en-US"/>
          </a:p>
        </p:txBody>
      </p:sp>
      <p:pic>
        <p:nvPicPr>
          <p:cNvPr id="11" name="Challenges 1 icon" descr="preencoded.png"/>
          <p:cNvPicPr>
            <a:picLocks noChangeAspect="1"/>
          </p:cNvPicPr>
          <p:nvPr/>
        </p:nvPicPr>
        <p:blipFill>
          <a:blip r:embed="rId3"/>
          <a:stretch>
            <a:fillRect/>
          </a:stretch>
        </p:blipFill>
        <p:spPr>
          <a:xfrm>
            <a:off x="698967" y="3003255"/>
            <a:ext cx="193121" cy="193121"/>
          </a:xfrm>
          <a:prstGeom prst="rect">
            <a:avLst/>
          </a:prstGeom>
        </p:spPr>
      </p:pic>
      <p:sp>
        <p:nvSpPr>
          <p:cNvPr id="12" name="Challenges text 1"/>
          <p:cNvSpPr txBox="1"/>
          <p:nvPr/>
        </p:nvSpPr>
        <p:spPr>
          <a:xfrm>
            <a:off x="1143000" y="2724912"/>
            <a:ext cx="3200400" cy="749808"/>
          </a:xfrm>
          <a:prstGeom prst="rect">
            <a:avLst/>
          </a:prstGeom>
          <a:noFill/>
          <a:ln/>
        </p:spPr>
        <p:txBody>
          <a:bodyPr wrap="square" lIns="0" tIns="0" rIns="0" bIns="0" rtlCol="0" anchor="ctr"/>
          <a:lstStyle/>
          <a:p>
            <a:pPr marL="0" indent="0">
              <a:buNone/>
            </a:pPr>
            <a:r>
              <a:rPr lang="en-US" sz="1150" dirty="0">
                <a:solidFill>
                  <a:schemeClr val="tx1"/>
                </a:solidFill>
              </a:rPr>
              <a:t>Each service logs in a different way: OAuth or a personal access token</a:t>
            </a:r>
            <a:endParaRPr lang="en-US" sz="1150" dirty="0"/>
          </a:p>
        </p:txBody>
      </p:sp>
      <p:sp>
        <p:nvSpPr>
          <p:cNvPr id="13" name="Challenges card 2"/>
          <p:cNvSpPr/>
          <p:nvPr/>
        </p:nvSpPr>
        <p:spPr>
          <a:xfrm>
            <a:off x="457200" y="3666744"/>
            <a:ext cx="4023360" cy="841248"/>
          </a:xfrm>
          <a:prstGeom prst="roundRect">
            <a:avLst>
              <a:gd name="adj" fmla="val 8696"/>
            </a:avLst>
          </a:prstGeom>
          <a:solidFill>
            <a:srgbClr val="F3F4F8"/>
          </a:solidFill>
          <a:ln w="12700">
            <a:solidFill>
              <a:srgbClr val="F3F4F8"/>
            </a:solidFill>
            <a:prstDash val="solid"/>
          </a:ln>
        </p:spPr>
        <p:txBody>
          <a:bodyPr/>
          <a:lstStyle/>
          <a:p>
            <a:endParaRPr lang="en-US"/>
          </a:p>
        </p:txBody>
      </p:sp>
      <p:sp>
        <p:nvSpPr>
          <p:cNvPr id="14" name="Challenges 2 circle"/>
          <p:cNvSpPr/>
          <p:nvPr/>
        </p:nvSpPr>
        <p:spPr>
          <a:xfrm>
            <a:off x="594360" y="3886200"/>
            <a:ext cx="402336" cy="402336"/>
          </a:xfrm>
          <a:prstGeom prst="ellipse">
            <a:avLst/>
          </a:prstGeom>
          <a:solidFill>
            <a:srgbClr val="F26B3A"/>
          </a:solidFill>
          <a:ln w="12700">
            <a:solidFill>
              <a:srgbClr val="F26B3A"/>
            </a:solidFill>
            <a:prstDash val="solid"/>
          </a:ln>
        </p:spPr>
        <p:txBody>
          <a:bodyPr/>
          <a:lstStyle/>
          <a:p>
            <a:endParaRPr lang="en-US"/>
          </a:p>
        </p:txBody>
      </p:sp>
      <p:pic>
        <p:nvPicPr>
          <p:cNvPr id="15" name="Challenges 2 icon" descr="preencoded.png"/>
          <p:cNvPicPr>
            <a:picLocks noChangeAspect="1"/>
          </p:cNvPicPr>
          <p:nvPr/>
        </p:nvPicPr>
        <p:blipFill>
          <a:blip r:embed="rId3"/>
          <a:stretch>
            <a:fillRect/>
          </a:stretch>
        </p:blipFill>
        <p:spPr>
          <a:xfrm>
            <a:off x="698967" y="3990807"/>
            <a:ext cx="193121" cy="193121"/>
          </a:xfrm>
          <a:prstGeom prst="rect">
            <a:avLst/>
          </a:prstGeom>
        </p:spPr>
      </p:pic>
      <p:sp>
        <p:nvSpPr>
          <p:cNvPr id="16" name="Challenges text 2"/>
          <p:cNvSpPr txBox="1"/>
          <p:nvPr/>
        </p:nvSpPr>
        <p:spPr>
          <a:xfrm>
            <a:off x="1143000" y="3712464"/>
            <a:ext cx="3200400" cy="749808"/>
          </a:xfrm>
          <a:prstGeom prst="rect">
            <a:avLst/>
          </a:prstGeom>
          <a:noFill/>
          <a:ln/>
        </p:spPr>
        <p:txBody>
          <a:bodyPr wrap="square" lIns="0" tIns="0" rIns="0" bIns="0" rtlCol="0" anchor="ctr"/>
          <a:lstStyle/>
          <a:p>
            <a:pPr marL="0" indent="0">
              <a:buNone/>
            </a:pPr>
            <a:r>
              <a:rPr lang="en-US" sz="1150" dirty="0">
                <a:solidFill>
                  <a:schemeClr val="tx1"/>
                </a:solidFill>
              </a:rPr>
              <a:t>Supabase had two related tables; I joined them into one clean 10-row export</a:t>
            </a:r>
            <a:endParaRPr lang="en-US" sz="1150" dirty="0"/>
          </a:p>
        </p:txBody>
      </p:sp>
      <p:sp>
        <p:nvSpPr>
          <p:cNvPr id="17" name="Lessons header"/>
          <p:cNvSpPr txBox="1"/>
          <p:nvPr/>
        </p:nvSpPr>
        <p:spPr>
          <a:xfrm>
            <a:off x="4663440" y="1188720"/>
            <a:ext cx="3840480" cy="365760"/>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Lessons</a:t>
            </a:r>
            <a:endParaRPr lang="en-US" sz="1800" dirty="0"/>
          </a:p>
        </p:txBody>
      </p:sp>
      <p:sp>
        <p:nvSpPr>
          <p:cNvPr id="18" name="Lessons card 0"/>
          <p:cNvSpPr/>
          <p:nvPr/>
        </p:nvSpPr>
        <p:spPr>
          <a:xfrm>
            <a:off x="4663440" y="1691640"/>
            <a:ext cx="4023360" cy="841248"/>
          </a:xfrm>
          <a:prstGeom prst="roundRect">
            <a:avLst>
              <a:gd name="adj" fmla="val 8696"/>
            </a:avLst>
          </a:prstGeom>
          <a:solidFill>
            <a:srgbClr val="F3F4F8"/>
          </a:solidFill>
          <a:ln w="12700">
            <a:solidFill>
              <a:srgbClr val="F3F4F8"/>
            </a:solidFill>
            <a:prstDash val="solid"/>
          </a:ln>
        </p:spPr>
        <p:txBody>
          <a:bodyPr/>
          <a:lstStyle/>
          <a:p>
            <a:endParaRPr lang="en-US"/>
          </a:p>
        </p:txBody>
      </p:sp>
      <p:sp>
        <p:nvSpPr>
          <p:cNvPr id="19" name="Lessons 0 circle"/>
          <p:cNvSpPr/>
          <p:nvPr/>
        </p:nvSpPr>
        <p:spPr>
          <a:xfrm>
            <a:off x="4800600" y="1911096"/>
            <a:ext cx="402336" cy="402336"/>
          </a:xfrm>
          <a:prstGeom prst="ellipse">
            <a:avLst/>
          </a:prstGeom>
          <a:solidFill>
            <a:srgbClr val="2E9E6B"/>
          </a:solidFill>
          <a:ln w="12700">
            <a:solidFill>
              <a:srgbClr val="2E9E6B"/>
            </a:solidFill>
            <a:prstDash val="solid"/>
          </a:ln>
        </p:spPr>
        <p:txBody>
          <a:bodyPr/>
          <a:lstStyle/>
          <a:p>
            <a:endParaRPr lang="en-US"/>
          </a:p>
        </p:txBody>
      </p:sp>
      <p:pic>
        <p:nvPicPr>
          <p:cNvPr id="20" name="Lessons 0 icon" descr="preencoded.png"/>
          <p:cNvPicPr>
            <a:picLocks noChangeAspect="1"/>
          </p:cNvPicPr>
          <p:nvPr/>
        </p:nvPicPr>
        <p:blipFill>
          <a:blip r:embed="rId4"/>
          <a:stretch>
            <a:fillRect/>
          </a:stretch>
        </p:blipFill>
        <p:spPr>
          <a:xfrm>
            <a:off x="4905207" y="2015703"/>
            <a:ext cx="193121" cy="193121"/>
          </a:xfrm>
          <a:prstGeom prst="rect">
            <a:avLst/>
          </a:prstGeom>
        </p:spPr>
      </p:pic>
      <p:sp>
        <p:nvSpPr>
          <p:cNvPr id="21" name="Lessons text 0"/>
          <p:cNvSpPr txBox="1"/>
          <p:nvPr/>
        </p:nvSpPr>
        <p:spPr>
          <a:xfrm>
            <a:off x="5349240" y="1737360"/>
            <a:ext cx="3200400" cy="749808"/>
          </a:xfrm>
          <a:prstGeom prst="rect">
            <a:avLst/>
          </a:prstGeom>
          <a:noFill/>
          <a:ln/>
        </p:spPr>
        <p:txBody>
          <a:bodyPr wrap="square" lIns="0" tIns="0" rIns="0" bIns="0" rtlCol="0" anchor="ctr"/>
          <a:lstStyle/>
          <a:p>
            <a:pPr marL="0" indent="0">
              <a:buNone/>
            </a:pPr>
            <a:r>
              <a:rPr lang="en-US" sz="1150" dirty="0">
                <a:solidFill>
                  <a:schemeClr val="tx1"/>
                </a:solidFill>
              </a:rPr>
              <a:t>Separate test accounts keep real data out of a public repo</a:t>
            </a:r>
            <a:endParaRPr lang="en-US" sz="1150" dirty="0"/>
          </a:p>
        </p:txBody>
      </p:sp>
      <p:sp>
        <p:nvSpPr>
          <p:cNvPr id="22" name="Lessons card 1"/>
          <p:cNvSpPr/>
          <p:nvPr/>
        </p:nvSpPr>
        <p:spPr>
          <a:xfrm>
            <a:off x="4663440" y="2679192"/>
            <a:ext cx="4023360" cy="841248"/>
          </a:xfrm>
          <a:prstGeom prst="roundRect">
            <a:avLst>
              <a:gd name="adj" fmla="val 8696"/>
            </a:avLst>
          </a:prstGeom>
          <a:solidFill>
            <a:srgbClr val="F3F4F8"/>
          </a:solidFill>
          <a:ln w="12700">
            <a:solidFill>
              <a:srgbClr val="F3F4F8"/>
            </a:solidFill>
            <a:prstDash val="solid"/>
          </a:ln>
        </p:spPr>
        <p:txBody>
          <a:bodyPr/>
          <a:lstStyle/>
          <a:p>
            <a:endParaRPr lang="en-US"/>
          </a:p>
        </p:txBody>
      </p:sp>
      <p:sp>
        <p:nvSpPr>
          <p:cNvPr id="23" name="Lessons 1 circle"/>
          <p:cNvSpPr/>
          <p:nvPr/>
        </p:nvSpPr>
        <p:spPr>
          <a:xfrm>
            <a:off x="4800600" y="2898648"/>
            <a:ext cx="402336" cy="402336"/>
          </a:xfrm>
          <a:prstGeom prst="ellipse">
            <a:avLst/>
          </a:prstGeom>
          <a:solidFill>
            <a:srgbClr val="2E9E6B"/>
          </a:solidFill>
          <a:ln w="12700">
            <a:solidFill>
              <a:srgbClr val="2E9E6B"/>
            </a:solidFill>
            <a:prstDash val="solid"/>
          </a:ln>
        </p:spPr>
        <p:txBody>
          <a:bodyPr/>
          <a:lstStyle/>
          <a:p>
            <a:endParaRPr lang="en-US"/>
          </a:p>
        </p:txBody>
      </p:sp>
      <p:pic>
        <p:nvPicPr>
          <p:cNvPr id="24" name="Lessons 1 icon" descr="preencoded.png"/>
          <p:cNvPicPr>
            <a:picLocks noChangeAspect="1"/>
          </p:cNvPicPr>
          <p:nvPr/>
        </p:nvPicPr>
        <p:blipFill>
          <a:blip r:embed="rId4"/>
          <a:stretch>
            <a:fillRect/>
          </a:stretch>
        </p:blipFill>
        <p:spPr>
          <a:xfrm>
            <a:off x="4905207" y="3003255"/>
            <a:ext cx="193121" cy="193121"/>
          </a:xfrm>
          <a:prstGeom prst="rect">
            <a:avLst/>
          </a:prstGeom>
        </p:spPr>
      </p:pic>
      <p:sp>
        <p:nvSpPr>
          <p:cNvPr id="25" name="Lessons text 1"/>
          <p:cNvSpPr txBox="1"/>
          <p:nvPr/>
        </p:nvSpPr>
        <p:spPr>
          <a:xfrm>
            <a:off x="5349240" y="2724912"/>
            <a:ext cx="3200400" cy="749808"/>
          </a:xfrm>
          <a:prstGeom prst="rect">
            <a:avLst/>
          </a:prstGeom>
          <a:noFill/>
          <a:ln/>
        </p:spPr>
        <p:txBody>
          <a:bodyPr wrap="square" lIns="0" tIns="0" rIns="0" bIns="0" rtlCol="0" anchor="ctr"/>
          <a:lstStyle/>
          <a:p>
            <a:pPr marL="0" indent="0">
              <a:buNone/>
            </a:pPr>
            <a:r>
              <a:rPr lang="en-US" sz="1150" dirty="0">
                <a:solidFill>
                  <a:schemeClr val="tx1"/>
                </a:solidFill>
              </a:rPr>
              <a:t>A skill turns a one-time download into a repeatable workflow</a:t>
            </a:r>
            <a:endParaRPr lang="en-US" sz="1150" dirty="0"/>
          </a:p>
        </p:txBody>
      </p:sp>
      <p:sp>
        <p:nvSpPr>
          <p:cNvPr id="26" name="Lessons card 2"/>
          <p:cNvSpPr/>
          <p:nvPr/>
        </p:nvSpPr>
        <p:spPr>
          <a:xfrm>
            <a:off x="4663440" y="3666744"/>
            <a:ext cx="4023360" cy="841248"/>
          </a:xfrm>
          <a:prstGeom prst="roundRect">
            <a:avLst>
              <a:gd name="adj" fmla="val 8696"/>
            </a:avLst>
          </a:prstGeom>
          <a:solidFill>
            <a:srgbClr val="F3F4F8"/>
          </a:solidFill>
          <a:ln w="12700">
            <a:solidFill>
              <a:srgbClr val="F3F4F8"/>
            </a:solidFill>
            <a:prstDash val="solid"/>
          </a:ln>
        </p:spPr>
        <p:txBody>
          <a:bodyPr/>
          <a:lstStyle/>
          <a:p>
            <a:endParaRPr lang="en-US"/>
          </a:p>
        </p:txBody>
      </p:sp>
      <p:sp>
        <p:nvSpPr>
          <p:cNvPr id="27" name="Lessons 2 circle"/>
          <p:cNvSpPr/>
          <p:nvPr/>
        </p:nvSpPr>
        <p:spPr>
          <a:xfrm>
            <a:off x="4800600" y="3886200"/>
            <a:ext cx="402336" cy="402336"/>
          </a:xfrm>
          <a:prstGeom prst="ellipse">
            <a:avLst/>
          </a:prstGeom>
          <a:solidFill>
            <a:srgbClr val="2E9E6B"/>
          </a:solidFill>
          <a:ln w="12700">
            <a:solidFill>
              <a:srgbClr val="2E9E6B"/>
            </a:solidFill>
            <a:prstDash val="solid"/>
          </a:ln>
        </p:spPr>
        <p:txBody>
          <a:bodyPr/>
          <a:lstStyle/>
          <a:p>
            <a:endParaRPr lang="en-US"/>
          </a:p>
        </p:txBody>
      </p:sp>
      <p:pic>
        <p:nvPicPr>
          <p:cNvPr id="28" name="Lessons 2 icon" descr="preencoded.png"/>
          <p:cNvPicPr>
            <a:picLocks noChangeAspect="1"/>
          </p:cNvPicPr>
          <p:nvPr/>
        </p:nvPicPr>
        <p:blipFill>
          <a:blip r:embed="rId4"/>
          <a:stretch>
            <a:fillRect/>
          </a:stretch>
        </p:blipFill>
        <p:spPr>
          <a:xfrm>
            <a:off x="4905207" y="3990807"/>
            <a:ext cx="193121" cy="193121"/>
          </a:xfrm>
          <a:prstGeom prst="rect">
            <a:avLst/>
          </a:prstGeom>
        </p:spPr>
      </p:pic>
      <p:sp>
        <p:nvSpPr>
          <p:cNvPr id="29" name="Lessons text 2"/>
          <p:cNvSpPr txBox="1"/>
          <p:nvPr/>
        </p:nvSpPr>
        <p:spPr>
          <a:xfrm>
            <a:off x="5349240" y="3712464"/>
            <a:ext cx="3200400" cy="749808"/>
          </a:xfrm>
          <a:prstGeom prst="rect">
            <a:avLst/>
          </a:prstGeom>
          <a:noFill/>
          <a:ln/>
        </p:spPr>
        <p:txBody>
          <a:bodyPr wrap="square" lIns="0" tIns="0" rIns="0" bIns="0" rtlCol="0" anchor="ctr"/>
          <a:lstStyle/>
          <a:p>
            <a:pPr marL="0" indent="0">
              <a:buNone/>
            </a:pPr>
            <a:r>
              <a:rPr lang="en-US" sz="1150" dirty="0">
                <a:solidFill>
                  <a:schemeClr val="tx1"/>
                </a:solidFill>
              </a:rPr>
              <a:t>Shared customer names make one search work across different formats</a:t>
            </a:r>
            <a:endParaRPr lang="en-US" sz="1150" dirty="0"/>
          </a:p>
        </p:txBody>
      </p:sp>
      <p:sp>
        <p:nvSpPr>
          <p:cNvPr id="30" name="Slide Number Placeholder 0"/>
          <p:cNvSpPr>
            <a:spLocks noGrp="1"/>
          </p:cNvSpPr>
          <p:nvPr>
            <p:ph type="sldNum" sz="quarter" idx="4294967295"/>
          </p:nvPr>
        </p:nvSpPr>
        <p:spPr>
          <a:xfrm>
            <a:off x="8321040" y="4828032"/>
            <a:ext cx="36576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640080"/>
            <a:ext cx="4572000" cy="274320"/>
          </a:xfrm>
          <a:prstGeom prst="rect">
            <a:avLst/>
          </a:prstGeom>
          <a:noFill/>
          <a:ln/>
        </p:spPr>
        <p:txBody>
          <a:bodyPr wrap="square" lIns="0" tIns="0" rIns="0" bIns="0" rtlCol="0" anchor="ctr"/>
          <a:lstStyle/>
          <a:p>
            <a:pPr marL="0" indent="0">
              <a:buNone/>
            </a:pPr>
            <a:r>
              <a:rPr lang="en-US" sz="1100" b="1" kern="0" spc="100" dirty="0">
                <a:solidFill>
                  <a:srgbClr val="F26B3A"/>
                </a:solidFill>
              </a:rPr>
              <a:t>TRY IT</a:t>
            </a:r>
            <a:endParaRPr lang="en-US" sz="1100" dirty="0"/>
          </a:p>
        </p:txBody>
      </p:sp>
      <p:sp>
        <p:nvSpPr>
          <p:cNvPr id="3" name="Closing title"/>
          <p:cNvSpPr txBox="1"/>
          <p:nvPr/>
        </p:nvSpPr>
        <p:spPr>
          <a:xfrm>
            <a:off x="548640" y="960120"/>
            <a:ext cx="8046720" cy="64008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Everything is in one public repo</a:t>
            </a:r>
            <a:endParaRPr lang="en-US" sz="3200" dirty="0"/>
          </a:p>
        </p:txBody>
      </p:sp>
      <p:sp>
        <p:nvSpPr>
          <p:cNvPr id="4" name="Repo link">
            <a:hlinkClick r:id="rId3"/>
          </p:cNvPr>
          <p:cNvSpPr txBox="1"/>
          <p:nvPr/>
        </p:nvSpPr>
        <p:spPr>
          <a:xfrm>
            <a:off x="548640" y="1645920"/>
            <a:ext cx="8046720" cy="365760"/>
          </a:xfrm>
          <a:prstGeom prst="rect">
            <a:avLst/>
          </a:prstGeom>
          <a:noFill/>
          <a:ln/>
        </p:spPr>
        <p:txBody>
          <a:bodyPr wrap="square" lIns="0" tIns="0" rIns="0" bIns="0" rtlCol="0" anchor="ctr"/>
          <a:lstStyle/>
          <a:p>
            <a:pPr marL="0" indent="0">
              <a:buNone/>
            </a:pPr>
            <a:r>
              <a:rPr lang="en-US" sz="1600" u="sng" dirty="0">
                <a:solidFill>
                  <a:srgbClr val="F9A27E"/>
                </a:solidFill>
                <a:hlinkClick r:id="rId3">
                  <a:extLst>
                    <a:ext uri="{A12FA001-AC4F-418D-AE19-62706E023703}">
                      <ahyp:hlinkClr xmlns:ahyp="http://schemas.microsoft.com/office/drawing/2018/hyperlinkcolor" val="tx"/>
                    </a:ext>
                  </a:extLst>
                </a:hlinkClick>
              </a:rPr>
              <a:t>github.com/josephhomeworksai-hash/third-party-dashboard</a:t>
            </a:r>
            <a:endParaRPr lang="en-US" sz="1600" dirty="0"/>
          </a:p>
        </p:txBody>
      </p:sp>
      <p:sp>
        <p:nvSpPr>
          <p:cNvPr id="5" name="run code panel"/>
          <p:cNvSpPr/>
          <p:nvPr/>
        </p:nvSpPr>
        <p:spPr>
          <a:xfrm>
            <a:off x="548640" y="2331720"/>
            <a:ext cx="3931920" cy="2103120"/>
          </a:xfrm>
          <a:prstGeom prst="roundRect">
            <a:avLst>
              <a:gd name="adj" fmla="val 3478"/>
            </a:avLst>
          </a:prstGeom>
          <a:solidFill>
            <a:srgbClr val="0E1430"/>
          </a:solidFill>
          <a:ln w="12700">
            <a:solidFill>
              <a:srgbClr val="0E1430"/>
            </a:solidFill>
            <a:prstDash val="solid"/>
          </a:ln>
          <a:effectLst>
            <a:outerShdw blurRad="101600" dist="25400" dir="5400000" algn="bl" rotWithShape="0">
              <a:srgbClr val="000000">
                <a:alpha val="14000"/>
              </a:srgbClr>
            </a:outerShdw>
          </a:effectLst>
        </p:spPr>
        <p:txBody>
          <a:bodyPr/>
          <a:lstStyle/>
          <a:p>
            <a:endParaRPr lang="en-US"/>
          </a:p>
        </p:txBody>
      </p:sp>
      <p:sp>
        <p:nvSpPr>
          <p:cNvPr id="6" name="run code label"/>
          <p:cNvSpPr txBox="1"/>
          <p:nvPr/>
        </p:nvSpPr>
        <p:spPr>
          <a:xfrm>
            <a:off x="713232" y="2423160"/>
            <a:ext cx="3602736" cy="228600"/>
          </a:xfrm>
          <a:prstGeom prst="rect">
            <a:avLst/>
          </a:prstGeom>
          <a:noFill/>
          <a:ln/>
        </p:spPr>
        <p:txBody>
          <a:bodyPr wrap="square" lIns="0" tIns="0" rIns="0" bIns="0" rtlCol="0" anchor="ctr"/>
          <a:lstStyle/>
          <a:p>
            <a:pPr marL="0" indent="0">
              <a:buNone/>
            </a:pPr>
            <a:r>
              <a:rPr lang="en-US" sz="900" b="1" dirty="0">
                <a:solidFill>
                  <a:srgbClr val="9AA3C2"/>
                </a:solidFill>
                <a:latin typeface="Courier New" pitchFamily="34" charset="0"/>
                <a:ea typeface="Courier New" pitchFamily="34" charset="-122"/>
                <a:cs typeface="Courier New" pitchFamily="34" charset="-120"/>
              </a:rPr>
              <a:t>Run the dashboard</a:t>
            </a:r>
            <a:endParaRPr lang="en-US" sz="900" dirty="0"/>
          </a:p>
        </p:txBody>
      </p:sp>
      <p:sp>
        <p:nvSpPr>
          <p:cNvPr id="7" name="run code code"/>
          <p:cNvSpPr txBox="1"/>
          <p:nvPr/>
        </p:nvSpPr>
        <p:spPr>
          <a:xfrm>
            <a:off x="713232" y="2679192"/>
            <a:ext cx="3602736" cy="1664208"/>
          </a:xfrm>
          <a:prstGeom prst="rect">
            <a:avLst/>
          </a:prstGeom>
          <a:noFill/>
          <a:ln/>
        </p:spPr>
        <p:txBody>
          <a:bodyPr wrap="square" lIns="0" tIns="0" rIns="0" bIns="0" rtlCol="0" anchor="t"/>
          <a:lstStyle/>
          <a:p>
            <a:pPr marL="0" indent="0">
              <a:buNone/>
            </a:pPr>
            <a:r>
              <a:rPr lang="en-US" sz="1000" dirty="0">
                <a:solidFill>
                  <a:srgbClr val="F9A27E"/>
                </a:solidFill>
                <a:latin typeface="Courier New" pitchFamily="34" charset="0"/>
                <a:ea typeface="Courier New" pitchFamily="34" charset="-122"/>
                <a:cs typeface="Courier New" pitchFamily="34" charset="-120"/>
              </a:rPr>
              <a:t>$ git clone &lt;repo&gt;</a:t>
            </a:r>
            <a:endParaRPr lang="en-US" sz="1000" dirty="0"/>
          </a:p>
          <a:p>
            <a:pPr marL="0" indent="0">
              <a:buNone/>
            </a:pPr>
            <a:r>
              <a:rPr lang="en-US" sz="1000" dirty="0">
                <a:solidFill>
                  <a:srgbClr val="F9A27E"/>
                </a:solidFill>
                <a:latin typeface="Courier New" pitchFamily="34" charset="0"/>
                <a:ea typeface="Courier New" pitchFamily="34" charset="-122"/>
                <a:cs typeface="Courier New" pitchFamily="34" charset="-120"/>
              </a:rPr>
              <a:t>$ cd third-party-dashboard</a:t>
            </a:r>
            <a:endParaRPr lang="en-US" sz="1000" dirty="0"/>
          </a:p>
          <a:p>
            <a:pPr marL="0" indent="0">
              <a:buNone/>
            </a:pPr>
            <a:r>
              <a:rPr lang="en-US" sz="1000" dirty="0">
                <a:solidFill>
                  <a:srgbClr val="F9A27E"/>
                </a:solidFill>
                <a:latin typeface="Courier New" pitchFamily="34" charset="0"/>
                <a:ea typeface="Courier New" pitchFamily="34" charset="-122"/>
                <a:cs typeface="Courier New" pitchFamily="34" charset="-120"/>
              </a:rPr>
              <a:t>$ python3 dashboard/server.py</a:t>
            </a:r>
            <a:endParaRPr lang="en-US" sz="1000" dirty="0"/>
          </a:p>
          <a:p>
            <a:pPr marL="0" indent="0">
              <a:buNone/>
            </a:pPr>
            <a:endParaRPr lang="en-US" sz="1000" dirty="0"/>
          </a:p>
          <a:p>
            <a:pPr marL="0" indent="0">
              <a:buNone/>
            </a:pPr>
            <a:r>
              <a:rPr lang="en-US" sz="1000" dirty="0">
                <a:solidFill>
                  <a:srgbClr val="F9A27E"/>
                </a:solidFill>
                <a:latin typeface="Courier New" pitchFamily="34" charset="0"/>
                <a:ea typeface="Courier New" pitchFamily="34" charset="-122"/>
                <a:cs typeface="Courier New" pitchFamily="34" charset="-120"/>
              </a:rPr>
              <a:t># open http://localhost:8000</a:t>
            </a:r>
            <a:endParaRPr lang="en-US" sz="1000" dirty="0"/>
          </a:p>
          <a:p>
            <a:pPr marL="0" indent="0">
              <a:buNone/>
            </a:pPr>
            <a:r>
              <a:rPr lang="en-US" sz="1000" dirty="0">
                <a:solidFill>
                  <a:srgbClr val="F9A27E"/>
                </a:solidFill>
                <a:latin typeface="Courier New" pitchFamily="34" charset="0"/>
                <a:ea typeface="Courier New" pitchFamily="34" charset="-122"/>
                <a:cs typeface="Courier New" pitchFamily="34" charset="-120"/>
              </a:rPr>
              <a:t># search: Maria Prueba, Forza, financing</a:t>
            </a:r>
            <a:endParaRPr lang="en-US" sz="1000" dirty="0"/>
          </a:p>
        </p:txBody>
      </p:sp>
      <p:sp>
        <p:nvSpPr>
          <p:cNvPr id="8" name="deliv 0 circle"/>
          <p:cNvSpPr/>
          <p:nvPr/>
        </p:nvSpPr>
        <p:spPr>
          <a:xfrm>
            <a:off x="4846320" y="2368296"/>
            <a:ext cx="246888" cy="246888"/>
          </a:xfrm>
          <a:prstGeom prst="ellipse">
            <a:avLst/>
          </a:prstGeom>
          <a:solidFill>
            <a:srgbClr val="2E9E6B"/>
          </a:solidFill>
          <a:ln w="12700">
            <a:solidFill>
              <a:srgbClr val="2E9E6B"/>
            </a:solidFill>
            <a:prstDash val="solid"/>
          </a:ln>
        </p:spPr>
        <p:txBody>
          <a:bodyPr/>
          <a:lstStyle/>
          <a:p>
            <a:endParaRPr lang="en-US"/>
          </a:p>
        </p:txBody>
      </p:sp>
      <p:pic>
        <p:nvPicPr>
          <p:cNvPr id="9" name="deliv 0 icon" descr="preencoded.png"/>
          <p:cNvPicPr>
            <a:picLocks noChangeAspect="1"/>
          </p:cNvPicPr>
          <p:nvPr/>
        </p:nvPicPr>
        <p:blipFill>
          <a:blip r:embed="rId4"/>
          <a:stretch>
            <a:fillRect/>
          </a:stretch>
        </p:blipFill>
        <p:spPr>
          <a:xfrm>
            <a:off x="4910511" y="2432487"/>
            <a:ext cx="118506" cy="118506"/>
          </a:xfrm>
          <a:prstGeom prst="rect">
            <a:avLst/>
          </a:prstGeom>
        </p:spPr>
      </p:pic>
      <p:sp>
        <p:nvSpPr>
          <p:cNvPr id="10" name="deliv 0"/>
          <p:cNvSpPr txBox="1"/>
          <p:nvPr/>
        </p:nvSpPr>
        <p:spPr>
          <a:xfrm>
            <a:off x="5230368" y="2331720"/>
            <a:ext cx="3383280" cy="320040"/>
          </a:xfrm>
          <a:prstGeom prst="rect">
            <a:avLst/>
          </a:prstGeom>
          <a:noFill/>
          <a:ln/>
        </p:spPr>
        <p:txBody>
          <a:bodyPr wrap="square" lIns="0" tIns="0" rIns="0" bIns="0" rtlCol="0" anchor="ctr"/>
          <a:lstStyle/>
          <a:p>
            <a:pPr marL="0" indent="0">
              <a:buNone/>
            </a:pPr>
            <a:r>
              <a:rPr lang="en-US" sz="1300" dirty="0">
                <a:solidFill>
                  <a:srgbClr val="FFFFFF"/>
                </a:solidFill>
              </a:rPr>
              <a:t>dataExports/ with the data</a:t>
            </a:r>
            <a:endParaRPr lang="en-US" sz="1300" dirty="0"/>
          </a:p>
        </p:txBody>
      </p:sp>
      <p:sp>
        <p:nvSpPr>
          <p:cNvPr id="11" name="deliv 1 circle"/>
          <p:cNvSpPr/>
          <p:nvPr/>
        </p:nvSpPr>
        <p:spPr>
          <a:xfrm>
            <a:off x="4846320" y="2724912"/>
            <a:ext cx="246888" cy="246888"/>
          </a:xfrm>
          <a:prstGeom prst="ellipse">
            <a:avLst/>
          </a:prstGeom>
          <a:solidFill>
            <a:srgbClr val="2E9E6B"/>
          </a:solidFill>
          <a:ln w="12700">
            <a:solidFill>
              <a:srgbClr val="2E9E6B"/>
            </a:solidFill>
            <a:prstDash val="solid"/>
          </a:ln>
        </p:spPr>
        <p:txBody>
          <a:bodyPr/>
          <a:lstStyle/>
          <a:p>
            <a:endParaRPr lang="en-US"/>
          </a:p>
        </p:txBody>
      </p:sp>
      <p:pic>
        <p:nvPicPr>
          <p:cNvPr id="12" name="deliv 1 icon" descr="preencoded.png"/>
          <p:cNvPicPr>
            <a:picLocks noChangeAspect="1"/>
          </p:cNvPicPr>
          <p:nvPr/>
        </p:nvPicPr>
        <p:blipFill>
          <a:blip r:embed="rId4"/>
          <a:stretch>
            <a:fillRect/>
          </a:stretch>
        </p:blipFill>
        <p:spPr>
          <a:xfrm>
            <a:off x="4910511" y="2789103"/>
            <a:ext cx="118506" cy="118506"/>
          </a:xfrm>
          <a:prstGeom prst="rect">
            <a:avLst/>
          </a:prstGeom>
        </p:spPr>
      </p:pic>
      <p:sp>
        <p:nvSpPr>
          <p:cNvPr id="13" name="deliv 1"/>
          <p:cNvSpPr txBox="1"/>
          <p:nvPr/>
        </p:nvSpPr>
        <p:spPr>
          <a:xfrm>
            <a:off x="5230368" y="2688336"/>
            <a:ext cx="3383280" cy="320040"/>
          </a:xfrm>
          <a:prstGeom prst="rect">
            <a:avLst/>
          </a:prstGeom>
          <a:noFill/>
          <a:ln/>
        </p:spPr>
        <p:txBody>
          <a:bodyPr wrap="square" lIns="0" tIns="0" rIns="0" bIns="0" rtlCol="0" anchor="ctr"/>
          <a:lstStyle/>
          <a:p>
            <a:pPr marL="0" indent="0">
              <a:buNone/>
            </a:pPr>
            <a:r>
              <a:rPr lang="en-US" sz="1300" dirty="0">
                <a:solidFill>
                  <a:srgbClr val="FFFFFF"/>
                </a:solidFill>
              </a:rPr>
              <a:t>.claude/ with the skill</a:t>
            </a:r>
            <a:endParaRPr lang="en-US" sz="1300" dirty="0"/>
          </a:p>
        </p:txBody>
      </p:sp>
      <p:sp>
        <p:nvSpPr>
          <p:cNvPr id="14" name="deliv 2 circle"/>
          <p:cNvSpPr/>
          <p:nvPr/>
        </p:nvSpPr>
        <p:spPr>
          <a:xfrm>
            <a:off x="4846320" y="3081528"/>
            <a:ext cx="246888" cy="246888"/>
          </a:xfrm>
          <a:prstGeom prst="ellipse">
            <a:avLst/>
          </a:prstGeom>
          <a:solidFill>
            <a:srgbClr val="2E9E6B"/>
          </a:solidFill>
          <a:ln w="12700">
            <a:solidFill>
              <a:srgbClr val="2E9E6B"/>
            </a:solidFill>
            <a:prstDash val="solid"/>
          </a:ln>
        </p:spPr>
        <p:txBody>
          <a:bodyPr/>
          <a:lstStyle/>
          <a:p>
            <a:endParaRPr lang="en-US"/>
          </a:p>
        </p:txBody>
      </p:sp>
      <p:pic>
        <p:nvPicPr>
          <p:cNvPr id="15" name="deliv 2 icon" descr="preencoded.png"/>
          <p:cNvPicPr>
            <a:picLocks noChangeAspect="1"/>
          </p:cNvPicPr>
          <p:nvPr/>
        </p:nvPicPr>
        <p:blipFill>
          <a:blip r:embed="rId4"/>
          <a:stretch>
            <a:fillRect/>
          </a:stretch>
        </p:blipFill>
        <p:spPr>
          <a:xfrm>
            <a:off x="4910511" y="3145719"/>
            <a:ext cx="118506" cy="118506"/>
          </a:xfrm>
          <a:prstGeom prst="rect">
            <a:avLst/>
          </a:prstGeom>
        </p:spPr>
      </p:pic>
      <p:sp>
        <p:nvSpPr>
          <p:cNvPr id="16" name="deliv 2"/>
          <p:cNvSpPr txBox="1"/>
          <p:nvPr/>
        </p:nvSpPr>
        <p:spPr>
          <a:xfrm>
            <a:off x="5230368" y="3044952"/>
            <a:ext cx="3383280" cy="320040"/>
          </a:xfrm>
          <a:prstGeom prst="rect">
            <a:avLst/>
          </a:prstGeom>
          <a:noFill/>
          <a:ln/>
        </p:spPr>
        <p:txBody>
          <a:bodyPr wrap="square" lIns="0" tIns="0" rIns="0" bIns="0" rtlCol="0" anchor="ctr"/>
          <a:lstStyle/>
          <a:p>
            <a:pPr marL="0" indent="0">
              <a:buNone/>
            </a:pPr>
            <a:r>
              <a:rPr lang="en-US" sz="1300" dirty="0">
                <a:solidFill>
                  <a:srgbClr val="FFFFFF"/>
                </a:solidFill>
              </a:rPr>
              <a:t>.mcp.json (no secrets)</a:t>
            </a:r>
            <a:endParaRPr lang="en-US" sz="1300" dirty="0"/>
          </a:p>
        </p:txBody>
      </p:sp>
      <p:sp>
        <p:nvSpPr>
          <p:cNvPr id="17" name="deliv 3 circle"/>
          <p:cNvSpPr/>
          <p:nvPr/>
        </p:nvSpPr>
        <p:spPr>
          <a:xfrm>
            <a:off x="4846320" y="3438144"/>
            <a:ext cx="246888" cy="246888"/>
          </a:xfrm>
          <a:prstGeom prst="ellipse">
            <a:avLst/>
          </a:prstGeom>
          <a:solidFill>
            <a:srgbClr val="2E9E6B"/>
          </a:solidFill>
          <a:ln w="12700">
            <a:solidFill>
              <a:srgbClr val="2E9E6B"/>
            </a:solidFill>
            <a:prstDash val="solid"/>
          </a:ln>
        </p:spPr>
        <p:txBody>
          <a:bodyPr/>
          <a:lstStyle/>
          <a:p>
            <a:endParaRPr lang="en-US"/>
          </a:p>
        </p:txBody>
      </p:sp>
      <p:pic>
        <p:nvPicPr>
          <p:cNvPr id="18" name="deliv 3 icon" descr="preencoded.png"/>
          <p:cNvPicPr>
            <a:picLocks noChangeAspect="1"/>
          </p:cNvPicPr>
          <p:nvPr/>
        </p:nvPicPr>
        <p:blipFill>
          <a:blip r:embed="rId4"/>
          <a:stretch>
            <a:fillRect/>
          </a:stretch>
        </p:blipFill>
        <p:spPr>
          <a:xfrm>
            <a:off x="4910511" y="3502335"/>
            <a:ext cx="118506" cy="118506"/>
          </a:xfrm>
          <a:prstGeom prst="rect">
            <a:avLst/>
          </a:prstGeom>
        </p:spPr>
      </p:pic>
      <p:sp>
        <p:nvSpPr>
          <p:cNvPr id="19" name="deliv 3"/>
          <p:cNvSpPr txBox="1"/>
          <p:nvPr/>
        </p:nvSpPr>
        <p:spPr>
          <a:xfrm>
            <a:off x="5230368" y="3401568"/>
            <a:ext cx="3383280" cy="320040"/>
          </a:xfrm>
          <a:prstGeom prst="rect">
            <a:avLst/>
          </a:prstGeom>
          <a:noFill/>
          <a:ln/>
        </p:spPr>
        <p:txBody>
          <a:bodyPr wrap="square" lIns="0" tIns="0" rIns="0" bIns="0" rtlCol="0" anchor="ctr"/>
          <a:lstStyle/>
          <a:p>
            <a:pPr marL="0" indent="0">
              <a:buNone/>
            </a:pPr>
            <a:r>
              <a:rPr lang="en-US" sz="1300" dirty="0">
                <a:solidFill>
                  <a:srgbClr val="FFFFFF"/>
                </a:solidFill>
              </a:rPr>
              <a:t>Dashboard code + README</a:t>
            </a:r>
            <a:endParaRPr lang="en-US" sz="1300" dirty="0"/>
          </a:p>
        </p:txBody>
      </p:sp>
      <p:sp>
        <p:nvSpPr>
          <p:cNvPr id="20" name="deliv 4 circle"/>
          <p:cNvSpPr/>
          <p:nvPr/>
        </p:nvSpPr>
        <p:spPr>
          <a:xfrm>
            <a:off x="4846320" y="3794760"/>
            <a:ext cx="246888" cy="246888"/>
          </a:xfrm>
          <a:prstGeom prst="ellipse">
            <a:avLst/>
          </a:prstGeom>
          <a:solidFill>
            <a:srgbClr val="2E9E6B"/>
          </a:solidFill>
          <a:ln w="12700">
            <a:solidFill>
              <a:srgbClr val="2E9E6B"/>
            </a:solidFill>
            <a:prstDash val="solid"/>
          </a:ln>
        </p:spPr>
        <p:txBody>
          <a:bodyPr/>
          <a:lstStyle/>
          <a:p>
            <a:endParaRPr lang="en-US"/>
          </a:p>
        </p:txBody>
      </p:sp>
      <p:pic>
        <p:nvPicPr>
          <p:cNvPr id="21" name="deliv 4 icon" descr="preencoded.png"/>
          <p:cNvPicPr>
            <a:picLocks noChangeAspect="1"/>
          </p:cNvPicPr>
          <p:nvPr/>
        </p:nvPicPr>
        <p:blipFill>
          <a:blip r:embed="rId4"/>
          <a:stretch>
            <a:fillRect/>
          </a:stretch>
        </p:blipFill>
        <p:spPr>
          <a:xfrm>
            <a:off x="4910511" y="3858951"/>
            <a:ext cx="118506" cy="118506"/>
          </a:xfrm>
          <a:prstGeom prst="rect">
            <a:avLst/>
          </a:prstGeom>
        </p:spPr>
      </p:pic>
      <p:sp>
        <p:nvSpPr>
          <p:cNvPr id="22" name="deliv 4"/>
          <p:cNvSpPr txBox="1"/>
          <p:nvPr/>
        </p:nvSpPr>
        <p:spPr>
          <a:xfrm>
            <a:off x="5230368" y="3758184"/>
            <a:ext cx="3383280" cy="320040"/>
          </a:xfrm>
          <a:prstGeom prst="rect">
            <a:avLst/>
          </a:prstGeom>
          <a:noFill/>
          <a:ln/>
        </p:spPr>
        <p:txBody>
          <a:bodyPr wrap="square" lIns="0" tIns="0" rIns="0" bIns="0" rtlCol="0" anchor="ctr"/>
          <a:lstStyle/>
          <a:p>
            <a:pPr marL="0" indent="0">
              <a:buNone/>
            </a:pPr>
            <a:r>
              <a:rPr lang="en-US" sz="1300" dirty="0">
                <a:solidFill>
                  <a:srgbClr val="FFFFFF"/>
                </a:solidFill>
              </a:rPr>
              <a:t>localStorageFormats.md</a:t>
            </a:r>
            <a:endParaRPr lang="en-US" sz="1300" dirty="0"/>
          </a:p>
        </p:txBody>
      </p:sp>
      <p:sp>
        <p:nvSpPr>
          <p:cNvPr id="23" name="deliv 5 circle"/>
          <p:cNvSpPr/>
          <p:nvPr/>
        </p:nvSpPr>
        <p:spPr>
          <a:xfrm>
            <a:off x="4846320" y="4151376"/>
            <a:ext cx="246888" cy="246888"/>
          </a:xfrm>
          <a:prstGeom prst="ellipse">
            <a:avLst/>
          </a:prstGeom>
          <a:solidFill>
            <a:srgbClr val="2E9E6B"/>
          </a:solidFill>
          <a:ln w="12700">
            <a:solidFill>
              <a:srgbClr val="2E9E6B"/>
            </a:solidFill>
            <a:prstDash val="solid"/>
          </a:ln>
        </p:spPr>
        <p:txBody>
          <a:bodyPr/>
          <a:lstStyle/>
          <a:p>
            <a:endParaRPr lang="en-US"/>
          </a:p>
        </p:txBody>
      </p:sp>
      <p:pic>
        <p:nvPicPr>
          <p:cNvPr id="24" name="deliv 5 icon" descr="preencoded.png"/>
          <p:cNvPicPr>
            <a:picLocks noChangeAspect="1"/>
          </p:cNvPicPr>
          <p:nvPr/>
        </p:nvPicPr>
        <p:blipFill>
          <a:blip r:embed="rId4"/>
          <a:stretch>
            <a:fillRect/>
          </a:stretch>
        </p:blipFill>
        <p:spPr>
          <a:xfrm>
            <a:off x="4910511" y="4215567"/>
            <a:ext cx="118506" cy="118506"/>
          </a:xfrm>
          <a:prstGeom prst="rect">
            <a:avLst/>
          </a:prstGeom>
        </p:spPr>
      </p:pic>
      <p:sp>
        <p:nvSpPr>
          <p:cNvPr id="25" name="deliv 5"/>
          <p:cNvSpPr txBox="1"/>
          <p:nvPr/>
        </p:nvSpPr>
        <p:spPr>
          <a:xfrm>
            <a:off x="5230368" y="4114800"/>
            <a:ext cx="3383280" cy="320040"/>
          </a:xfrm>
          <a:prstGeom prst="rect">
            <a:avLst/>
          </a:prstGeom>
          <a:noFill/>
          <a:ln/>
        </p:spPr>
        <p:txBody>
          <a:bodyPr wrap="square" lIns="0" tIns="0" rIns="0" bIns="0" rtlCol="0" anchor="ctr"/>
          <a:lstStyle/>
          <a:p>
            <a:pPr marL="0" indent="0">
              <a:buNone/>
            </a:pPr>
            <a:r>
              <a:rPr lang="en-US" sz="1300" dirty="0">
                <a:solidFill>
                  <a:srgbClr val="FFFFFF"/>
                </a:solidFill>
              </a:rPr>
              <a:t>This deck and the demo video</a:t>
            </a:r>
            <a:endParaRPr lang="en-US" sz="1300" dirty="0"/>
          </a:p>
        </p:txBody>
      </p:sp>
    </p:spTree>
  </p:cSld>
  <p:clrMapOvr>
    <a:masterClrMapping/>
  </p:clrMapOvr>
</p:sld>
</file>

<file path=ppt/theme/theme1.xml><?xml version="1.0" encoding="utf-8"?>
<a:theme xmlns:a="http://schemas.openxmlformats.org/drawingml/2006/main" name="HW3 Dashboard">
  <a:themeElements>
    <a:clrScheme name="HW3 Dashboard">
      <a:dk1>
        <a:srgbClr val="141B34"/>
      </a:dk1>
      <a:lt1>
        <a:srgbClr val="FFFFFF"/>
      </a:lt1>
      <a:dk2>
        <a:srgbClr val="4A5168"/>
      </a:dk2>
      <a:lt2>
        <a:srgbClr val="F3F4F8"/>
      </a:lt2>
      <a:accent1>
        <a:srgbClr val="F26B3A"/>
      </a:accent1>
      <a:accent2>
        <a:srgbClr val="EA4335"/>
      </a:accent2>
      <a:accent3>
        <a:srgbClr val="24292F"/>
      </a:accent3>
      <a:accent4>
        <a:srgbClr val="37352F"/>
      </a:accent4>
      <a:accent5>
        <a:srgbClr val="3ECF8E"/>
      </a:accent5>
      <a:accent6>
        <a:srgbClr val="2F6FEB"/>
      </a:accent6>
      <a:hlink>
        <a:srgbClr val="2F6FEB"/>
      </a:hlink>
      <a:folHlink>
        <a:srgbClr val="6B4FBB"/>
      </a:folHlink>
    </a:clrScheme>
    <a:fontScheme name="HW3 Dashboar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2528</Words>
  <Application>Microsoft Macintosh PowerPoint</Application>
  <PresentationFormat>On-screen Show (16:9)</PresentationFormat>
  <Paragraphs>278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Courier New</vt:lpstr>
      <vt:lpstr>HW3 Dashboard</vt:lpstr>
      <vt:lpstr>PowerPoint Presentation</vt:lpstr>
      <vt:lpstr>From four cloud services to one local search</vt:lpstr>
      <vt:lpstr>One fake dealership, same customers everywhere</vt:lpstr>
      <vt:lpstr>Claude Code connected to all four services</vt:lpstr>
      <vt:lpstr>Gmail: original data vs. dashboard</vt:lpstr>
      <vt:lpstr>GitHub: original data vs. dashboard</vt:lpstr>
      <vt:lpstr>Notion: original data vs. dashboard</vt:lpstr>
      <vt:lpstr>Supabase: original data vs. dashboard</vt:lpstr>
      <vt:lpstr>Each service gets the format that fits its data</vt:lpstr>
      <vt:lpstr>What a saved file looks like</vt:lpstr>
      <vt:lpstr>export-services makes the download repeatable</vt:lpstr>
      <vt:lpstr>One search, four services</vt:lpstr>
      <vt:lpstr>A public repo with zero secrets in it</vt:lpstr>
      <vt:lpstr>Challenges and lessons learned</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HW3 - Third-Party Data Dashboard</dc:title>
  <dc:subject>PptxGenJS Presentation</dc:subject>
  <dc:creator>Joseph Benzaquen</dc:creator>
  <cp:lastModifiedBy>Joseph Benzaquen</cp:lastModifiedBy>
  <cp:revision>1</cp:revision>
  <dcterms:created xsi:type="dcterms:W3CDTF">2026-10-15T14:30:58Z</dcterms:created>
  <dcterms:modified xsi:type="dcterms:W3CDTF">2026-10-15T14:33:40Z</dcterms:modified>
</cp:coreProperties>
</file>